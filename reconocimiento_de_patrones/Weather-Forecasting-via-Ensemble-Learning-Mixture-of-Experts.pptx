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9144000" cy="5143500" type="screen16x9"/>
  <p:notesSz cx="5143500" cy="9144000"/>
  <p:embeddedFontLst>
    <p:embeddedFont>
      <p:font typeface="Fira Code" panose="020B0809050000020004" pitchFamily="49" charset="0"/>
      <p:regular r:id="rId14"/>
      <p:bold r:id="rId15"/>
    </p:embeddedFont>
    <p:embeddedFont>
      <p:font typeface="Inter"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6FFD8-F8DA-4F95-9179-4667C91FE1E0}" v="1" dt="2026-05-07T12:56:05.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771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83EBA-2EC6-6ADF-A300-B8C6CF334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EBEA4-2C80-F00A-DC18-648A3D6CD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CC135-236C-1A1B-4DC4-684BD1DB6B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C2BB7D-9F6B-F4E7-8D96-8A9C0B4BD48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61965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925119" y="1461120"/>
            <a:ext cx="4722763" cy="1395487"/>
          </a:xfrm>
          <a:prstGeom prst="rect">
            <a:avLst/>
          </a:prstGeom>
          <a:noFill/>
          <a:ln/>
        </p:spPr>
        <p:txBody>
          <a:bodyPr wrap="square" lIns="0" tIns="0" rIns="0" bIns="0" rtlCol="0" anchor="t"/>
          <a:lstStyle/>
          <a:p>
            <a:pPr marL="0" indent="0" algn="l">
              <a:lnSpc>
                <a:spcPts val="3650"/>
              </a:lnSpc>
              <a:buNone/>
            </a:pPr>
            <a:r>
              <a:rPr lang="en-US" sz="2900" b="1" dirty="0">
                <a:solidFill>
                  <a:srgbClr val="000000"/>
                </a:solidFill>
                <a:latin typeface="Petrona Bold" pitchFamily="34" charset="0"/>
                <a:ea typeface="Petrona Bold" pitchFamily="34" charset="-122"/>
                <a:cs typeface="Petrona Bold" pitchFamily="34" charset="-120"/>
              </a:rPr>
              <a:t>Weather Forecasting via Ensemble Learning (Mixture of Experts)</a:t>
            </a:r>
            <a:endParaRPr lang="en-US" sz="2900" dirty="0"/>
          </a:p>
        </p:txBody>
      </p:sp>
      <p:sp>
        <p:nvSpPr>
          <p:cNvPr id="4" name="Text 1"/>
          <p:cNvSpPr/>
          <p:nvPr/>
        </p:nvSpPr>
        <p:spPr>
          <a:xfrm>
            <a:off x="3925119" y="3069208"/>
            <a:ext cx="4722763" cy="226814"/>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Global Project - Pattern Recognition (2025-2026)</a:t>
            </a:r>
            <a:endParaRPr lang="en-US" sz="1100" dirty="0"/>
          </a:p>
        </p:txBody>
      </p:sp>
      <p:sp>
        <p:nvSpPr>
          <p:cNvPr id="5" name="Text 2"/>
          <p:cNvSpPr/>
          <p:nvPr/>
        </p:nvSpPr>
        <p:spPr>
          <a:xfrm>
            <a:off x="3925119" y="3455491"/>
            <a:ext cx="4722763" cy="226814"/>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Authors: José Álvaro García Márquez, Alejandro Rodríguez Barberán</a:t>
            </a:r>
          </a:p>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 University of Cádiz</a:t>
            </a:r>
            <a:endParaRPr lang="en-US" sz="1100" dirty="0"/>
          </a:p>
        </p:txBody>
      </p:sp>
      <p:pic>
        <p:nvPicPr>
          <p:cNvPr id="7" name="Imagen 6">
            <a:extLst>
              <a:ext uri="{FF2B5EF4-FFF2-40B4-BE49-F238E27FC236}">
                <a16:creationId xmlns:a16="http://schemas.microsoft.com/office/drawing/2014/main" id="{A60F3B54-0FD9-9895-A679-374ADB9A62C1}"/>
              </a:ext>
            </a:extLst>
          </p:cNvPr>
          <p:cNvPicPr>
            <a:picLocks noChangeAspect="1"/>
          </p:cNvPicPr>
          <p:nvPr/>
        </p:nvPicPr>
        <p:blipFill>
          <a:blip r:embed="rId3"/>
          <a:stretch>
            <a:fillRect/>
          </a:stretch>
        </p:blipFill>
        <p:spPr>
          <a:xfrm>
            <a:off x="7791261" y="4752920"/>
            <a:ext cx="1352739" cy="390580"/>
          </a:xfrm>
          <a:prstGeom prst="rect">
            <a:avLst/>
          </a:prstGeom>
        </p:spPr>
      </p:pic>
      <p:pic>
        <p:nvPicPr>
          <p:cNvPr id="9" name="Imagen 8">
            <a:extLst>
              <a:ext uri="{FF2B5EF4-FFF2-40B4-BE49-F238E27FC236}">
                <a16:creationId xmlns:a16="http://schemas.microsoft.com/office/drawing/2014/main" id="{D4F77513-224C-367B-8169-D93AD8C08390}"/>
              </a:ext>
            </a:extLst>
          </p:cNvPr>
          <p:cNvPicPr>
            <a:picLocks noChangeAspect="1"/>
          </p:cNvPicPr>
          <p:nvPr/>
        </p:nvPicPr>
        <p:blipFill>
          <a:blip r:embed="rId4"/>
          <a:srcRect b="6286"/>
          <a:stretch>
            <a:fillRect/>
          </a:stretch>
        </p:blipFill>
        <p:spPr>
          <a:xfrm>
            <a:off x="0" y="0"/>
            <a:ext cx="3065837" cy="5143500"/>
          </a:xfrm>
          <a:prstGeom prst="rect">
            <a:avLst/>
          </a:prstGeom>
        </p:spPr>
      </p:pic>
      <p:pic>
        <p:nvPicPr>
          <p:cNvPr id="1028" name="Picture 4" descr="Identidad Visual – Facultad de Medicina">
            <a:extLst>
              <a:ext uri="{FF2B5EF4-FFF2-40B4-BE49-F238E27FC236}">
                <a16:creationId xmlns:a16="http://schemas.microsoft.com/office/drawing/2014/main" id="{32FBFA47-5961-D690-E4B5-7FEDF0280B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6131" y="3970776"/>
            <a:ext cx="845152" cy="11217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61802"/>
            <a:ext cx="5383857" cy="465162"/>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Petrona Bold" pitchFamily="34" charset="0"/>
                <a:ea typeface="Petrona Bold" pitchFamily="34" charset="-122"/>
                <a:cs typeface="Petrona Bold" pitchFamily="34" charset="-120"/>
              </a:rPr>
              <a:t>1. Historical Data</a:t>
            </a:r>
            <a:endParaRPr lang="en-US" sz="2900" dirty="0"/>
          </a:p>
        </p:txBody>
      </p:sp>
      <p:sp>
        <p:nvSpPr>
          <p:cNvPr id="3" name="Shape 1"/>
          <p:cNvSpPr/>
          <p:nvPr/>
        </p:nvSpPr>
        <p:spPr>
          <a:xfrm>
            <a:off x="496119" y="1710482"/>
            <a:ext cx="2622724" cy="1858119"/>
          </a:xfrm>
          <a:prstGeom prst="roundRect">
            <a:avLst>
              <a:gd name="adj" fmla="val 3204"/>
            </a:avLst>
          </a:prstGeom>
          <a:solidFill>
            <a:srgbClr val="CCEEFF"/>
          </a:solidFill>
          <a:ln w="4763">
            <a:solidFill>
              <a:srgbClr val="B2D4E5"/>
            </a:solidFill>
            <a:prstDash val="solid"/>
          </a:ln>
        </p:spPr>
        <p:txBody>
          <a:bodyPr/>
          <a:lstStyle/>
          <a:p>
            <a:endParaRPr lang="en-US"/>
          </a:p>
        </p:txBody>
      </p:sp>
      <p:sp>
        <p:nvSpPr>
          <p:cNvPr id="4" name="Shape 2"/>
          <p:cNvSpPr/>
          <p:nvPr/>
        </p:nvSpPr>
        <p:spPr>
          <a:xfrm>
            <a:off x="642640" y="1857003"/>
            <a:ext cx="425276" cy="425276"/>
          </a:xfrm>
          <a:prstGeom prst="roundRect">
            <a:avLst>
              <a:gd name="adj" fmla="val 13436988"/>
            </a:avLst>
          </a:prstGeom>
          <a:solidFill>
            <a:srgbClr val="007EBD"/>
          </a:solidFill>
          <a:ln/>
        </p:spPr>
        <p:txBody>
          <a:bodyPr/>
          <a:lstStyle/>
          <a:p>
            <a:endParaRPr lang="en-U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619" y="1973907"/>
            <a:ext cx="191319" cy="191319"/>
          </a:xfrm>
          <a:prstGeom prst="rect">
            <a:avLst/>
          </a:prstGeom>
        </p:spPr>
      </p:pic>
      <p:sp>
        <p:nvSpPr>
          <p:cNvPr id="6" name="Text 3"/>
          <p:cNvSpPr/>
          <p:nvPr/>
        </p:nvSpPr>
        <p:spPr>
          <a:xfrm>
            <a:off x="642640" y="2424038"/>
            <a:ext cx="1883643"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AEMET Station 5972X</a:t>
            </a:r>
            <a:endParaRPr lang="en-US" sz="1450" dirty="0"/>
          </a:p>
        </p:txBody>
      </p:sp>
      <p:sp>
        <p:nvSpPr>
          <p:cNvPr id="7" name="Text 4"/>
          <p:cNvSpPr/>
          <p:nvPr/>
        </p:nvSpPr>
        <p:spPr>
          <a:xfrm>
            <a:off x="642640" y="2741637"/>
            <a:ext cx="2329681"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Official Spanish meteorological service providing ground truth data  for San Fernando, Cádiz</a:t>
            </a:r>
            <a:endParaRPr lang="en-US" sz="1100" dirty="0"/>
          </a:p>
        </p:txBody>
      </p:sp>
      <p:sp>
        <p:nvSpPr>
          <p:cNvPr id="8" name="Shape 5"/>
          <p:cNvSpPr/>
          <p:nvPr/>
        </p:nvSpPr>
        <p:spPr>
          <a:xfrm>
            <a:off x="3260601" y="1710482"/>
            <a:ext cx="2622724" cy="1858119"/>
          </a:xfrm>
          <a:prstGeom prst="roundRect">
            <a:avLst>
              <a:gd name="adj" fmla="val 3204"/>
            </a:avLst>
          </a:prstGeom>
          <a:solidFill>
            <a:srgbClr val="CCEEFF"/>
          </a:solidFill>
          <a:ln w="4763">
            <a:solidFill>
              <a:srgbClr val="B2D4E5"/>
            </a:solidFill>
            <a:prstDash val="solid"/>
          </a:ln>
        </p:spPr>
        <p:txBody>
          <a:bodyPr/>
          <a:lstStyle/>
          <a:p>
            <a:endParaRPr lang="en-US"/>
          </a:p>
        </p:txBody>
      </p:sp>
      <p:sp>
        <p:nvSpPr>
          <p:cNvPr id="9" name="Shape 6"/>
          <p:cNvSpPr/>
          <p:nvPr/>
        </p:nvSpPr>
        <p:spPr>
          <a:xfrm>
            <a:off x="3407122" y="1857003"/>
            <a:ext cx="425276" cy="425276"/>
          </a:xfrm>
          <a:prstGeom prst="roundRect">
            <a:avLst>
              <a:gd name="adj" fmla="val 13436988"/>
            </a:avLst>
          </a:prstGeom>
          <a:solidFill>
            <a:srgbClr val="007EBD"/>
          </a:solidFill>
          <a:ln/>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4101" y="1973907"/>
            <a:ext cx="191319" cy="191319"/>
          </a:xfrm>
          <a:prstGeom prst="rect">
            <a:avLst/>
          </a:prstGeom>
        </p:spPr>
      </p:pic>
      <p:sp>
        <p:nvSpPr>
          <p:cNvPr id="11" name="Text 7"/>
          <p:cNvSpPr/>
          <p:nvPr/>
        </p:nvSpPr>
        <p:spPr>
          <a:xfrm>
            <a:off x="3407122" y="2424038"/>
            <a:ext cx="1860649"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Open-</a:t>
            </a:r>
            <a:r>
              <a:rPr lang="en-US" sz="1450" b="1" dirty="0" err="1">
                <a:solidFill>
                  <a:srgbClr val="272525"/>
                </a:solidFill>
                <a:latin typeface="Petrona Bold" pitchFamily="34" charset="0"/>
                <a:ea typeface="Petrona Bold" pitchFamily="34" charset="-122"/>
                <a:cs typeface="Petrona Bold" pitchFamily="34" charset="-120"/>
              </a:rPr>
              <a:t>Meteo</a:t>
            </a:r>
            <a:r>
              <a:rPr lang="en-US" sz="1450" b="1" dirty="0">
                <a:solidFill>
                  <a:srgbClr val="272525"/>
                </a:solidFill>
                <a:latin typeface="Petrona Bold" pitchFamily="34" charset="0"/>
                <a:ea typeface="Petrona Bold" pitchFamily="34" charset="-122"/>
                <a:cs typeface="Petrona Bold" pitchFamily="34" charset="-120"/>
              </a:rPr>
              <a:t> &amp; AEMET </a:t>
            </a:r>
            <a:endParaRPr lang="en-US" sz="1450" dirty="0"/>
          </a:p>
        </p:txBody>
      </p:sp>
      <p:sp>
        <p:nvSpPr>
          <p:cNvPr id="12" name="Text 8"/>
          <p:cNvSpPr/>
          <p:nvPr/>
        </p:nvSpPr>
        <p:spPr>
          <a:xfrm>
            <a:off x="3407122" y="2741637"/>
            <a:ext cx="2329681"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Open-source weather API providing forecast data with global coverage</a:t>
            </a:r>
            <a:endParaRPr lang="en-US" sz="1100" dirty="0"/>
          </a:p>
        </p:txBody>
      </p:sp>
      <p:sp>
        <p:nvSpPr>
          <p:cNvPr id="13" name="Shape 9"/>
          <p:cNvSpPr/>
          <p:nvPr/>
        </p:nvSpPr>
        <p:spPr>
          <a:xfrm>
            <a:off x="6025083" y="1710482"/>
            <a:ext cx="2622724" cy="1858119"/>
          </a:xfrm>
          <a:prstGeom prst="roundRect">
            <a:avLst>
              <a:gd name="adj" fmla="val 3204"/>
            </a:avLst>
          </a:prstGeom>
          <a:solidFill>
            <a:srgbClr val="CCEEFF"/>
          </a:solidFill>
          <a:ln w="4763">
            <a:solidFill>
              <a:srgbClr val="B2D4E5"/>
            </a:solidFill>
            <a:prstDash val="solid"/>
          </a:ln>
        </p:spPr>
        <p:txBody>
          <a:bodyPr/>
          <a:lstStyle/>
          <a:p>
            <a:endParaRPr lang="en-US"/>
          </a:p>
        </p:txBody>
      </p:sp>
      <p:sp>
        <p:nvSpPr>
          <p:cNvPr id="14" name="Shape 10"/>
          <p:cNvSpPr/>
          <p:nvPr/>
        </p:nvSpPr>
        <p:spPr>
          <a:xfrm>
            <a:off x="6171605" y="1857003"/>
            <a:ext cx="425276" cy="425276"/>
          </a:xfrm>
          <a:prstGeom prst="roundRect">
            <a:avLst>
              <a:gd name="adj" fmla="val 13436988"/>
            </a:avLst>
          </a:prstGeom>
          <a:solidFill>
            <a:srgbClr val="007EBD"/>
          </a:solidFill>
          <a:ln/>
        </p:spPr>
        <p:txBody>
          <a:bodyPr/>
          <a:lstStyle/>
          <a:p>
            <a:endParaRPr lang="en-US"/>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8584" y="1973907"/>
            <a:ext cx="191319" cy="191319"/>
          </a:xfrm>
          <a:prstGeom prst="rect">
            <a:avLst/>
          </a:prstGeom>
        </p:spPr>
      </p:pic>
      <p:sp>
        <p:nvSpPr>
          <p:cNvPr id="16" name="Text 11"/>
          <p:cNvSpPr/>
          <p:nvPr/>
        </p:nvSpPr>
        <p:spPr>
          <a:xfrm>
            <a:off x="6171605" y="2424038"/>
            <a:ext cx="1860649"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OpenWeatherMap</a:t>
            </a:r>
            <a:endParaRPr lang="en-US" sz="1450" dirty="0"/>
          </a:p>
        </p:txBody>
      </p:sp>
      <p:sp>
        <p:nvSpPr>
          <p:cNvPr id="17" name="Text 12"/>
          <p:cNvSpPr/>
          <p:nvPr/>
        </p:nvSpPr>
        <p:spPr>
          <a:xfrm>
            <a:off x="6171605" y="2741637"/>
            <a:ext cx="2329681"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Commercial weather API offering real-time forecasts with 3-hour temporal resolution</a:t>
            </a:r>
            <a:endParaRPr lang="en-US" sz="1100" dirty="0"/>
          </a:p>
        </p:txBody>
      </p:sp>
      <p:sp>
        <p:nvSpPr>
          <p:cNvPr id="18" name="Text 13"/>
          <p:cNvSpPr/>
          <p:nvPr/>
        </p:nvSpPr>
        <p:spPr>
          <a:xfrm>
            <a:off x="496119" y="3728070"/>
            <a:ext cx="8151763" cy="453628"/>
          </a:xfrm>
          <a:prstGeom prst="rect">
            <a:avLst/>
          </a:prstGeom>
          <a:noFill/>
          <a:ln/>
        </p:spPr>
        <p:txBody>
          <a:bodyPr wrap="square" lIns="0" tIns="0" rIns="0" bIns="0" rtlCol="0" anchor="t"/>
          <a:lstStyle/>
          <a:p>
            <a:pPr marL="0" indent="0" algn="l">
              <a:lnSpc>
                <a:spcPts val="1750"/>
              </a:lnSpc>
              <a:buNone/>
            </a:pPr>
            <a:r>
              <a:rPr lang="en-US" sz="1100" b="1" dirty="0">
                <a:solidFill>
                  <a:srgbClr val="272525"/>
                </a:solidFill>
                <a:latin typeface="Inter" pitchFamily="34" charset="0"/>
                <a:ea typeface="Inter" pitchFamily="34" charset="-122"/>
                <a:cs typeface="Inter" pitchFamily="34" charset="-120"/>
              </a:rPr>
              <a:t>Data Volume:</a:t>
            </a:r>
            <a:r>
              <a:rPr lang="en-US" sz="1100" dirty="0">
                <a:solidFill>
                  <a:srgbClr val="272525"/>
                </a:solidFill>
                <a:latin typeface="Inter" pitchFamily="34" charset="0"/>
                <a:ea typeface="Inter" pitchFamily="34" charset="-122"/>
                <a:cs typeface="Inter" pitchFamily="34" charset="-120"/>
              </a:rPr>
              <a:t> Cumulative historical data exceeding 80000 records collected over one more than one month (from 1/4/2026 to 7/5/2026), providing robust training material for the ensemble system.</a:t>
            </a:r>
            <a:endParaRPr lang="en-US" sz="1100" dirty="0"/>
          </a:p>
        </p:txBody>
      </p:sp>
      <p:pic>
        <p:nvPicPr>
          <p:cNvPr id="19" name="Imagen 18">
            <a:extLst>
              <a:ext uri="{FF2B5EF4-FFF2-40B4-BE49-F238E27FC236}">
                <a16:creationId xmlns:a16="http://schemas.microsoft.com/office/drawing/2014/main" id="{CA63600F-2064-84B0-5708-020A2BD96BAF}"/>
              </a:ext>
            </a:extLst>
          </p:cNvPr>
          <p:cNvPicPr>
            <a:picLocks noChangeAspect="1"/>
          </p:cNvPicPr>
          <p:nvPr/>
        </p:nvPicPr>
        <p:blipFill>
          <a:blip r:embed="rId6"/>
          <a:stretch>
            <a:fillRect/>
          </a:stretch>
        </p:blipFill>
        <p:spPr>
          <a:xfrm>
            <a:off x="7791261" y="4752920"/>
            <a:ext cx="1352739" cy="390580"/>
          </a:xfrm>
          <a:prstGeom prst="rect">
            <a:avLst/>
          </a:prstGeom>
        </p:spPr>
      </p:pic>
      <p:pic>
        <p:nvPicPr>
          <p:cNvPr id="22" name="Picture 4" descr="Identidad Visual – Facultad de Medicina">
            <a:extLst>
              <a:ext uri="{FF2B5EF4-FFF2-40B4-BE49-F238E27FC236}">
                <a16:creationId xmlns:a16="http://schemas.microsoft.com/office/drawing/2014/main" id="{9B5CE7AF-C091-02AD-7B79-C16AC49305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56B0D-1B42-42D2-2BF6-AA6CAACEB4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B3AF693-0AB8-347D-6C1B-AEAC17387DDE}"/>
              </a:ext>
            </a:extLst>
          </p:cNvPr>
          <p:cNvSpPr/>
          <p:nvPr/>
        </p:nvSpPr>
        <p:spPr>
          <a:xfrm>
            <a:off x="496119" y="961802"/>
            <a:ext cx="5383857" cy="465162"/>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Petrona Bold" pitchFamily="34" charset="0"/>
                <a:ea typeface="Petrona Bold" pitchFamily="34" charset="-122"/>
                <a:cs typeface="Petrona Bold" pitchFamily="34" charset="-120"/>
              </a:rPr>
              <a:t>1. Historical Data</a:t>
            </a:r>
            <a:endParaRPr lang="en-US" sz="2900" dirty="0"/>
          </a:p>
        </p:txBody>
      </p:sp>
      <p:pic>
        <p:nvPicPr>
          <p:cNvPr id="19" name="Imagen 18">
            <a:extLst>
              <a:ext uri="{FF2B5EF4-FFF2-40B4-BE49-F238E27FC236}">
                <a16:creationId xmlns:a16="http://schemas.microsoft.com/office/drawing/2014/main" id="{E9354669-F423-65E5-D411-30B05D8DDB98}"/>
              </a:ext>
            </a:extLst>
          </p:cNvPr>
          <p:cNvPicPr>
            <a:picLocks noChangeAspect="1"/>
          </p:cNvPicPr>
          <p:nvPr/>
        </p:nvPicPr>
        <p:blipFill>
          <a:blip r:embed="rId3"/>
          <a:stretch>
            <a:fillRect/>
          </a:stretch>
        </p:blipFill>
        <p:spPr>
          <a:xfrm>
            <a:off x="7791261" y="4752920"/>
            <a:ext cx="1352739" cy="390580"/>
          </a:xfrm>
          <a:prstGeom prst="rect">
            <a:avLst/>
          </a:prstGeom>
        </p:spPr>
      </p:pic>
      <p:pic>
        <p:nvPicPr>
          <p:cNvPr id="22" name="Picture 4" descr="Identidad Visual – Facultad de Medicina">
            <a:extLst>
              <a:ext uri="{FF2B5EF4-FFF2-40B4-BE49-F238E27FC236}">
                <a16:creationId xmlns:a16="http://schemas.microsoft.com/office/drawing/2014/main" id="{EF6D565F-AACF-E979-9FB1-C7A15234ED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67DD8BFA-3093-6D78-6E0B-CA7F028BDBB6}"/>
              </a:ext>
            </a:extLst>
          </p:cNvPr>
          <p:cNvSpPr txBox="1"/>
          <p:nvPr/>
        </p:nvSpPr>
        <p:spPr>
          <a:xfrm>
            <a:off x="3118843" y="1057632"/>
            <a:ext cx="1103811" cy="369332"/>
          </a:xfrm>
          <a:prstGeom prst="rect">
            <a:avLst/>
          </a:prstGeom>
          <a:noFill/>
        </p:spPr>
        <p:txBody>
          <a:bodyPr wrap="square" rtlCol="0">
            <a:spAutoFit/>
          </a:bodyPr>
          <a:lstStyle/>
          <a:p>
            <a:r>
              <a:rPr lang="es-ES" dirty="0"/>
              <a:t>(</a:t>
            </a:r>
            <a:r>
              <a:rPr lang="es-ES" dirty="0" err="1"/>
              <a:t>Format</a:t>
            </a:r>
            <a:r>
              <a:rPr lang="es-ES" dirty="0"/>
              <a:t>)</a:t>
            </a:r>
            <a:endParaRPr lang="en-US" dirty="0"/>
          </a:p>
        </p:txBody>
      </p:sp>
      <p:sp>
        <p:nvSpPr>
          <p:cNvPr id="24" name="Shape 1">
            <a:extLst>
              <a:ext uri="{FF2B5EF4-FFF2-40B4-BE49-F238E27FC236}">
                <a16:creationId xmlns:a16="http://schemas.microsoft.com/office/drawing/2014/main" id="{8477B8B0-CA6E-5BB0-48AE-D3CF2CE42871}"/>
              </a:ext>
            </a:extLst>
          </p:cNvPr>
          <p:cNvSpPr/>
          <p:nvPr/>
        </p:nvSpPr>
        <p:spPr>
          <a:xfrm>
            <a:off x="1188568" y="3169191"/>
            <a:ext cx="7039305" cy="769988"/>
          </a:xfrm>
          <a:prstGeom prst="roundRect">
            <a:avLst>
              <a:gd name="adj" fmla="val 3204"/>
            </a:avLst>
          </a:prstGeom>
          <a:solidFill>
            <a:schemeClr val="accent2">
              <a:lumMod val="20000"/>
              <a:lumOff val="80000"/>
            </a:schemeClr>
          </a:solidFill>
          <a:ln w="4763">
            <a:solidFill>
              <a:srgbClr val="B2D4E5"/>
            </a:solidFill>
            <a:prstDash val="solid"/>
          </a:ln>
        </p:spPr>
        <p:txBody>
          <a:bodyPr/>
          <a:lstStyle/>
          <a:p>
            <a:r>
              <a:rPr lang="en-US" b="1" dirty="0"/>
              <a:t>1. Predictions Structure (7 columns):</a:t>
            </a:r>
            <a:endParaRPr lang="en-US" dirty="0"/>
          </a:p>
          <a:p>
            <a:r>
              <a:rPr lang="en-US" sz="1000" b="1" dirty="0">
                <a:latin typeface="Fira Code" panose="020B0809050000020004" pitchFamily="49" charset="0"/>
                <a:ea typeface="Fira Code" panose="020B0809050000020004" pitchFamily="49" charset="0"/>
                <a:cs typeface="Fira Code" panose="020B0809050000020004" pitchFamily="49" charset="0"/>
              </a:rPr>
              <a:t>PRED ; [ SOURCE ] ;[ CAPTURE_DATE ] ; [ TARGET_DATE ] ; [ TEMP ] ; [ WIND ] ; [ PRECIP ]</a:t>
            </a:r>
            <a:br>
              <a:rPr lang="en-US" sz="1200" dirty="0"/>
            </a:br>
            <a:r>
              <a:rPr lang="en-US" sz="1200" i="1" dirty="0"/>
              <a:t>Example:</a:t>
            </a:r>
            <a:r>
              <a:rPr lang="en-US" sz="1200" dirty="0"/>
              <a:t> </a:t>
            </a:r>
            <a:r>
              <a:rPr lang="en-US" sz="1200" dirty="0">
                <a:latin typeface="Fira Code" panose="020B0809050000020004" pitchFamily="49" charset="0"/>
                <a:ea typeface="Fira Code" panose="020B0809050000020004" pitchFamily="49" charset="0"/>
                <a:cs typeface="Fira Code" panose="020B0809050000020004" pitchFamily="49" charset="0"/>
              </a:rPr>
              <a:t>REAL ; AEMET ; 2026-05-04T09:00 ; 18.1 ; 28.1 ; 0.0</a:t>
            </a:r>
          </a:p>
          <a:p>
            <a:r>
              <a:rPr lang="en-US" dirty="0"/>
              <a:t>	</a:t>
            </a:r>
            <a:endParaRPr lang="en-US" sz="900" dirty="0">
              <a:latin typeface="Fira Code" panose="020B0809050000020004" pitchFamily="49" charset="0"/>
              <a:ea typeface="Fira Code" panose="020B0809050000020004" pitchFamily="49" charset="0"/>
              <a:cs typeface="Fira Code" panose="020B0809050000020004" pitchFamily="49" charset="0"/>
            </a:endParaRPr>
          </a:p>
        </p:txBody>
      </p:sp>
      <p:sp>
        <p:nvSpPr>
          <p:cNvPr id="28" name="Shape 1">
            <a:extLst>
              <a:ext uri="{FF2B5EF4-FFF2-40B4-BE49-F238E27FC236}">
                <a16:creationId xmlns:a16="http://schemas.microsoft.com/office/drawing/2014/main" id="{A0C91676-FF42-D497-801C-E55F71C2078D}"/>
              </a:ext>
            </a:extLst>
          </p:cNvPr>
          <p:cNvSpPr/>
          <p:nvPr/>
        </p:nvSpPr>
        <p:spPr>
          <a:xfrm>
            <a:off x="1188568" y="4045967"/>
            <a:ext cx="7039305" cy="769988"/>
          </a:xfrm>
          <a:prstGeom prst="roundRect">
            <a:avLst>
              <a:gd name="adj" fmla="val 3204"/>
            </a:avLst>
          </a:prstGeom>
          <a:solidFill>
            <a:schemeClr val="accent2">
              <a:lumMod val="20000"/>
              <a:lumOff val="80000"/>
            </a:schemeClr>
          </a:solidFill>
          <a:ln w="4763">
            <a:solidFill>
              <a:srgbClr val="B2D4E5"/>
            </a:solidFill>
            <a:prstDash val="solid"/>
          </a:ln>
        </p:spPr>
        <p:txBody>
          <a:bodyPr/>
          <a:lstStyle/>
          <a:p>
            <a:r>
              <a:rPr lang="en-US" b="1" dirty="0"/>
              <a:t>2. Ground Truth / Real Data Structure (6 columns):</a:t>
            </a:r>
            <a:endParaRPr lang="en-US" dirty="0"/>
          </a:p>
          <a:p>
            <a:r>
              <a:rPr lang="en-US" sz="1000" b="1" dirty="0">
                <a:latin typeface="Fira Code" panose="020B0809050000020004" pitchFamily="49" charset="0"/>
                <a:ea typeface="Fira Code" panose="020B0809050000020004" pitchFamily="49" charset="0"/>
                <a:cs typeface="Fira Code" panose="020B0809050000020004" pitchFamily="49" charset="0"/>
              </a:rPr>
              <a:t>REAL ; [ SOURCE ] ; [ OBSERVATION_DATE ] ; [ TEMP ] ; [ WIND ] ; [ PRECIP ]</a:t>
            </a:r>
            <a:br>
              <a:rPr lang="en-US" sz="1200" dirty="0"/>
            </a:br>
            <a:r>
              <a:rPr lang="en-US" sz="1200" i="1" dirty="0"/>
              <a:t>Example:</a:t>
            </a:r>
            <a:r>
              <a:rPr lang="en-US" sz="1200" dirty="0"/>
              <a:t> </a:t>
            </a:r>
            <a:r>
              <a:rPr lang="en-US" sz="1200" dirty="0">
                <a:latin typeface="Fira Code" panose="020B0809050000020004" pitchFamily="49" charset="0"/>
                <a:ea typeface="Fira Code" panose="020B0809050000020004" pitchFamily="49" charset="0"/>
                <a:cs typeface="Fira Code" panose="020B0809050000020004" pitchFamily="49" charset="0"/>
              </a:rPr>
              <a:t>REAL ; AEMET ; 2026-05-04T09:00 ; 18.1 ; 28.1 ; 0.0</a:t>
            </a:r>
          </a:p>
          <a:p>
            <a:r>
              <a:rPr lang="en-US" dirty="0"/>
              <a:t>	</a:t>
            </a:r>
            <a:endParaRPr lang="en-US" sz="900" dirty="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915701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870871" y="360238"/>
            <a:ext cx="4831259" cy="828526"/>
          </a:xfrm>
          <a:prstGeom prst="rect">
            <a:avLst/>
          </a:prstGeom>
          <a:noFill/>
          <a:ln/>
        </p:spPr>
        <p:txBody>
          <a:bodyPr wrap="square" lIns="0" tIns="0" rIns="0" bIns="0" rtlCol="0" anchor="t"/>
          <a:lstStyle/>
          <a:p>
            <a:pPr marL="0" indent="0" algn="l">
              <a:lnSpc>
                <a:spcPts val="3250"/>
              </a:lnSpc>
              <a:buNone/>
            </a:pPr>
            <a:r>
              <a:rPr lang="en-US" sz="2600" b="1" dirty="0">
                <a:solidFill>
                  <a:srgbClr val="000000"/>
                </a:solidFill>
                <a:latin typeface="Petrona Bold" pitchFamily="34" charset="0"/>
                <a:ea typeface="Petrona Bold" pitchFamily="34" charset="-122"/>
                <a:cs typeface="Petrona Bold" pitchFamily="34" charset="-120"/>
              </a:rPr>
              <a:t>1. Data Preprocessing: Anomaly Resolution</a:t>
            </a:r>
            <a:endParaRPr lang="en-US" sz="2600" dirty="0"/>
          </a:p>
        </p:txBody>
      </p:sp>
      <p:pic>
        <p:nvPicPr>
          <p:cNvPr id="4" name="Image 1" descr="preencoded.png"/>
          <p:cNvPicPr>
            <a:picLocks noChangeAspect="1"/>
          </p:cNvPicPr>
          <p:nvPr/>
        </p:nvPicPr>
        <p:blipFill>
          <a:blip r:embed="rId4"/>
          <a:stretch>
            <a:fillRect/>
          </a:stretch>
        </p:blipFill>
        <p:spPr>
          <a:xfrm>
            <a:off x="3870871" y="1357387"/>
            <a:ext cx="631254" cy="908819"/>
          </a:xfrm>
          <a:prstGeom prst="rect">
            <a:avLst/>
          </a:prstGeom>
        </p:spPr>
      </p:pic>
      <p:sp>
        <p:nvSpPr>
          <p:cNvPr id="5" name="Text 1"/>
          <p:cNvSpPr/>
          <p:nvPr/>
        </p:nvSpPr>
        <p:spPr>
          <a:xfrm>
            <a:off x="4614565" y="1483593"/>
            <a:ext cx="1996753" cy="207094"/>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Petrona Bold" pitchFamily="34" charset="0"/>
                <a:ea typeface="Petrona Bold" pitchFamily="34" charset="-122"/>
                <a:cs typeface="Petrona Bold" pitchFamily="34" charset="-120"/>
              </a:rPr>
              <a:t>Temporal Offset Detection</a:t>
            </a:r>
            <a:endParaRPr lang="en-US" sz="1300" dirty="0"/>
          </a:p>
        </p:txBody>
      </p:sp>
      <p:sp>
        <p:nvSpPr>
          <p:cNvPr id="6" name="Text 2"/>
          <p:cNvSpPr/>
          <p:nvPr/>
        </p:nvSpPr>
        <p:spPr>
          <a:xfrm>
            <a:off x="4614565" y="1758107"/>
            <a:ext cx="4087564" cy="381893"/>
          </a:xfrm>
          <a:prstGeom prst="rect">
            <a:avLst/>
          </a:prstGeom>
          <a:noFill/>
          <a:ln/>
        </p:spPr>
        <p:txBody>
          <a:bodyPr wrap="square" lIns="0" tIns="0" rIns="0" bIns="0" rtlCol="0" anchor="t"/>
          <a:lstStyle/>
          <a:p>
            <a:pPr marL="0" indent="0" algn="l">
              <a:lnSpc>
                <a:spcPts val="1500"/>
              </a:lnSpc>
              <a:buNone/>
            </a:pPr>
            <a:r>
              <a:rPr lang="en-US" sz="950" dirty="0">
                <a:solidFill>
                  <a:srgbClr val="272525"/>
                </a:solidFill>
                <a:latin typeface="Inter" pitchFamily="34" charset="0"/>
                <a:ea typeface="Inter" pitchFamily="34" charset="-122"/>
                <a:cs typeface="Inter" pitchFamily="34" charset="-120"/>
              </a:rPr>
              <a:t>AEMET predictions contained UTC+2 timezone offset requiring correction to align timestamps</a:t>
            </a:r>
            <a:endParaRPr lang="en-US" sz="950" dirty="0"/>
          </a:p>
        </p:txBody>
      </p:sp>
      <p:pic>
        <p:nvPicPr>
          <p:cNvPr id="7" name="Image 2" descr="preencoded.png"/>
          <p:cNvPicPr>
            <a:picLocks noChangeAspect="1"/>
          </p:cNvPicPr>
          <p:nvPr/>
        </p:nvPicPr>
        <p:blipFill>
          <a:blip r:embed="rId5"/>
          <a:stretch>
            <a:fillRect/>
          </a:stretch>
        </p:blipFill>
        <p:spPr>
          <a:xfrm>
            <a:off x="3870871" y="2266206"/>
            <a:ext cx="631254" cy="908819"/>
          </a:xfrm>
          <a:prstGeom prst="rect">
            <a:avLst/>
          </a:prstGeom>
        </p:spPr>
      </p:pic>
      <p:sp>
        <p:nvSpPr>
          <p:cNvPr id="8" name="Text 3"/>
          <p:cNvSpPr/>
          <p:nvPr/>
        </p:nvSpPr>
        <p:spPr>
          <a:xfrm>
            <a:off x="4614565" y="2392412"/>
            <a:ext cx="1657127" cy="207094"/>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Petrona Bold" pitchFamily="34" charset="0"/>
                <a:ea typeface="Petrona Bold" pitchFamily="34" charset="-122"/>
                <a:cs typeface="Petrona Bold" pitchFamily="34" charset="-120"/>
              </a:rPr>
              <a:t>Unit Conversion</a:t>
            </a:r>
            <a:endParaRPr lang="en-US" sz="1300" dirty="0"/>
          </a:p>
        </p:txBody>
      </p:sp>
      <p:sp>
        <p:nvSpPr>
          <p:cNvPr id="9" name="Text 4"/>
          <p:cNvSpPr/>
          <p:nvPr/>
        </p:nvSpPr>
        <p:spPr>
          <a:xfrm>
            <a:off x="4614565" y="2666926"/>
            <a:ext cx="4087564" cy="381893"/>
          </a:xfrm>
          <a:prstGeom prst="rect">
            <a:avLst/>
          </a:prstGeom>
          <a:noFill/>
          <a:ln/>
        </p:spPr>
        <p:txBody>
          <a:bodyPr wrap="square" lIns="0" tIns="0" rIns="0" bIns="0" rtlCol="0" anchor="t"/>
          <a:lstStyle/>
          <a:p>
            <a:pPr marL="0" indent="0" algn="l">
              <a:lnSpc>
                <a:spcPts val="1500"/>
              </a:lnSpc>
              <a:buNone/>
            </a:pPr>
            <a:r>
              <a:rPr lang="en-US" sz="950" dirty="0">
                <a:solidFill>
                  <a:srgbClr val="272525"/>
                </a:solidFill>
                <a:latin typeface="Inter" pitchFamily="34" charset="0"/>
                <a:ea typeface="Inter" pitchFamily="34" charset="-122"/>
                <a:cs typeface="Inter" pitchFamily="34" charset="-120"/>
              </a:rPr>
              <a:t>Wind speed reported in knots; applied conversion factor (×1.852) to standardize to km/h</a:t>
            </a:r>
            <a:endParaRPr lang="en-US" sz="950" dirty="0"/>
          </a:p>
        </p:txBody>
      </p:sp>
      <p:pic>
        <p:nvPicPr>
          <p:cNvPr id="10" name="Image 3" descr="preencoded.png"/>
          <p:cNvPicPr>
            <a:picLocks noChangeAspect="1"/>
          </p:cNvPicPr>
          <p:nvPr/>
        </p:nvPicPr>
        <p:blipFill>
          <a:blip r:embed="rId6"/>
          <a:stretch>
            <a:fillRect/>
          </a:stretch>
        </p:blipFill>
        <p:spPr>
          <a:xfrm>
            <a:off x="3870871" y="3175025"/>
            <a:ext cx="631254" cy="908819"/>
          </a:xfrm>
          <a:prstGeom prst="rect">
            <a:avLst/>
          </a:prstGeom>
        </p:spPr>
      </p:pic>
      <p:sp>
        <p:nvSpPr>
          <p:cNvPr id="11" name="Text 5"/>
          <p:cNvSpPr/>
          <p:nvPr/>
        </p:nvSpPr>
        <p:spPr>
          <a:xfrm>
            <a:off x="4614565" y="3301231"/>
            <a:ext cx="1657127" cy="207094"/>
          </a:xfrm>
          <a:prstGeom prst="rect">
            <a:avLst/>
          </a:prstGeom>
          <a:noFill/>
          <a:ln/>
        </p:spPr>
        <p:txBody>
          <a:bodyPr wrap="none" lIns="0" tIns="0" rIns="0" bIns="0" rtlCol="0" anchor="t"/>
          <a:lstStyle/>
          <a:p>
            <a:pPr marL="0" indent="0" algn="l">
              <a:lnSpc>
                <a:spcPts val="1600"/>
              </a:lnSpc>
              <a:buNone/>
            </a:pPr>
            <a:r>
              <a:rPr lang="en-US" sz="1300" b="1" dirty="0">
                <a:solidFill>
                  <a:srgbClr val="272525"/>
                </a:solidFill>
                <a:latin typeface="Petrona Bold" pitchFamily="34" charset="0"/>
                <a:ea typeface="Petrona Bold" pitchFamily="34" charset="-122"/>
                <a:cs typeface="Petrona Bold" pitchFamily="34" charset="-120"/>
              </a:rPr>
              <a:t>Data Integration</a:t>
            </a:r>
            <a:endParaRPr lang="en-US" sz="1300" dirty="0"/>
          </a:p>
        </p:txBody>
      </p:sp>
      <p:sp>
        <p:nvSpPr>
          <p:cNvPr id="12" name="Text 6"/>
          <p:cNvSpPr/>
          <p:nvPr/>
        </p:nvSpPr>
        <p:spPr>
          <a:xfrm>
            <a:off x="4614565" y="3575745"/>
            <a:ext cx="4087564" cy="634603"/>
          </a:xfrm>
          <a:prstGeom prst="rect">
            <a:avLst/>
          </a:prstGeom>
          <a:noFill/>
          <a:ln/>
        </p:spPr>
        <p:txBody>
          <a:bodyPr wrap="square" lIns="0" tIns="0" rIns="0" bIns="0" rtlCol="0" anchor="t"/>
          <a:lstStyle/>
          <a:p>
            <a:pPr marL="0" indent="0" algn="l">
              <a:lnSpc>
                <a:spcPts val="1500"/>
              </a:lnSpc>
              <a:buNone/>
            </a:pPr>
            <a:r>
              <a:rPr lang="en-US" sz="950" dirty="0">
                <a:solidFill>
                  <a:srgbClr val="272525"/>
                </a:solidFill>
                <a:latin typeface="Inter" pitchFamily="34" charset="0"/>
                <a:ea typeface="Inter" pitchFamily="34" charset="-122"/>
                <a:cs typeface="Inter" pitchFamily="34" charset="-120"/>
              </a:rPr>
              <a:t>Harmonized all sources to common temporal resolution and measurement units, fixing missing hours prediction with mathematical tools (interpolation).</a:t>
            </a:r>
            <a:endParaRPr lang="en-US" sz="950" dirty="0"/>
          </a:p>
        </p:txBody>
      </p:sp>
      <p:sp>
        <p:nvSpPr>
          <p:cNvPr id="13" name="Text 7"/>
          <p:cNvSpPr/>
          <p:nvPr/>
        </p:nvSpPr>
        <p:spPr>
          <a:xfrm>
            <a:off x="3870871" y="4210348"/>
            <a:ext cx="4831259" cy="572839"/>
          </a:xfrm>
          <a:prstGeom prst="rect">
            <a:avLst/>
          </a:prstGeom>
          <a:noFill/>
          <a:ln/>
        </p:spPr>
        <p:txBody>
          <a:bodyPr wrap="square" lIns="0" tIns="0" rIns="0" bIns="0" rtlCol="0" anchor="t"/>
          <a:lstStyle/>
          <a:p>
            <a:pPr marL="0" indent="0" algn="l">
              <a:lnSpc>
                <a:spcPts val="1500"/>
              </a:lnSpc>
              <a:buNone/>
            </a:pPr>
            <a:r>
              <a:rPr lang="en-US" sz="950" b="1" dirty="0">
                <a:solidFill>
                  <a:srgbClr val="272525"/>
                </a:solidFill>
                <a:latin typeface="Inter" pitchFamily="34" charset="0"/>
                <a:ea typeface="Inter" pitchFamily="34" charset="-122"/>
                <a:cs typeface="Inter" pitchFamily="34" charset="-120"/>
              </a:rPr>
              <a:t>Impact:</a:t>
            </a:r>
            <a:r>
              <a:rPr lang="en-US" sz="950" dirty="0">
                <a:solidFill>
                  <a:srgbClr val="272525"/>
                </a:solidFill>
                <a:latin typeface="Inter" pitchFamily="34" charset="0"/>
                <a:ea typeface="Inter" pitchFamily="34" charset="-122"/>
                <a:cs typeface="Inter" pitchFamily="34" charset="-120"/>
              </a:rPr>
              <a:t> These preprocessing steps reduced systematic errors significantly before model training, demonstrating the critical importance of data quality in Pattern Recognition systems.</a:t>
            </a:r>
            <a:endParaRPr lang="en-US" sz="950" dirty="0"/>
          </a:p>
        </p:txBody>
      </p:sp>
      <p:pic>
        <p:nvPicPr>
          <p:cNvPr id="14" name="Imagen 13">
            <a:extLst>
              <a:ext uri="{FF2B5EF4-FFF2-40B4-BE49-F238E27FC236}">
                <a16:creationId xmlns:a16="http://schemas.microsoft.com/office/drawing/2014/main" id="{F3641297-AE72-76C3-2304-921436CD1566}"/>
              </a:ext>
            </a:extLst>
          </p:cNvPr>
          <p:cNvPicPr>
            <a:picLocks noChangeAspect="1"/>
          </p:cNvPicPr>
          <p:nvPr/>
        </p:nvPicPr>
        <p:blipFill>
          <a:blip r:embed="rId7"/>
          <a:stretch>
            <a:fillRect/>
          </a:stretch>
        </p:blipFill>
        <p:spPr>
          <a:xfrm>
            <a:off x="7791261" y="4752920"/>
            <a:ext cx="1352739" cy="390580"/>
          </a:xfrm>
          <a:prstGeom prst="rect">
            <a:avLst/>
          </a:prstGeom>
        </p:spPr>
      </p:pic>
      <p:pic>
        <p:nvPicPr>
          <p:cNvPr id="18" name="Picture 4" descr="Identidad Visual – Facultad de Medicina">
            <a:extLst>
              <a:ext uri="{FF2B5EF4-FFF2-40B4-BE49-F238E27FC236}">
                <a16:creationId xmlns:a16="http://schemas.microsoft.com/office/drawing/2014/main" id="{12D47BE3-D71B-12C0-47C4-4037F4882F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1643" y="370880"/>
            <a:ext cx="6015484" cy="385167"/>
          </a:xfrm>
          <a:prstGeom prst="rect">
            <a:avLst/>
          </a:prstGeom>
          <a:noFill/>
          <a:ln/>
        </p:spPr>
        <p:txBody>
          <a:bodyPr wrap="none" lIns="0" tIns="0" rIns="0" bIns="0" rtlCol="0" anchor="t"/>
          <a:lstStyle/>
          <a:p>
            <a:pPr marL="0" indent="0" algn="l">
              <a:lnSpc>
                <a:spcPts val="3000"/>
              </a:lnSpc>
              <a:buNone/>
            </a:pPr>
            <a:r>
              <a:rPr lang="en-US" sz="2400" b="1" dirty="0">
                <a:solidFill>
                  <a:srgbClr val="000000"/>
                </a:solidFill>
                <a:latin typeface="Petrona Bold" pitchFamily="34" charset="0"/>
                <a:ea typeface="Petrona Bold" pitchFamily="34" charset="-122"/>
                <a:cs typeface="Petrona Bold" pitchFamily="34" charset="-120"/>
              </a:rPr>
              <a:t>2. Model Design: Generalized Linear Model</a:t>
            </a:r>
            <a:endParaRPr lang="en-US" sz="2400" dirty="0"/>
          </a:p>
        </p:txBody>
      </p:sp>
      <p:sp>
        <p:nvSpPr>
          <p:cNvPr id="3" name="Text 1"/>
          <p:cNvSpPr/>
          <p:nvPr/>
        </p:nvSpPr>
        <p:spPr>
          <a:xfrm>
            <a:off x="521643" y="1282675"/>
            <a:ext cx="1626543" cy="19258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Petrona Bold" pitchFamily="34" charset="0"/>
                <a:ea typeface="Petrona Bold" pitchFamily="34" charset="-122"/>
                <a:cs typeface="Petrona Bold" pitchFamily="34" charset="-120"/>
              </a:rPr>
              <a:t>Ensemble Architecture</a:t>
            </a:r>
            <a:endParaRPr lang="en-US" sz="1200" dirty="0"/>
          </a:p>
        </p:txBody>
      </p:sp>
      <p:sp>
        <p:nvSpPr>
          <p:cNvPr id="4" name="Text 2"/>
          <p:cNvSpPr/>
          <p:nvPr/>
        </p:nvSpPr>
        <p:spPr>
          <a:xfrm>
            <a:off x="521643" y="1572444"/>
            <a:ext cx="2649066" cy="858366"/>
          </a:xfrm>
          <a:prstGeom prst="rect">
            <a:avLst/>
          </a:prstGeom>
          <a:noFill/>
          <a:ln/>
        </p:spPr>
        <p:txBody>
          <a:bodyPr wrap="square" lIns="0" tIns="0" rIns="0" bIns="0" rtlCol="0" anchor="t"/>
          <a:lstStyle/>
          <a:p>
            <a:pPr marL="0" indent="0" algn="l">
              <a:lnSpc>
                <a:spcPts val="1350"/>
              </a:lnSpc>
              <a:buNone/>
            </a:pPr>
            <a:r>
              <a:rPr lang="en-US" sz="900" dirty="0">
                <a:solidFill>
                  <a:srgbClr val="272525"/>
                </a:solidFill>
                <a:latin typeface="Inter" pitchFamily="34" charset="0"/>
                <a:ea typeface="Inter" pitchFamily="34" charset="-122"/>
                <a:cs typeface="Inter" pitchFamily="34" charset="-120"/>
              </a:rPr>
              <a:t>Generalized Linear Model (GLM) trained via pseudoinverse method. The model functions as a Mixture of Experts, dynamically weighting the reliability of each API source based on historical performance.</a:t>
            </a:r>
            <a:endParaRPr lang="en-US" sz="900" dirty="0"/>
          </a:p>
        </p:txBody>
      </p:sp>
      <p:sp>
        <p:nvSpPr>
          <p:cNvPr id="5" name="Text 3"/>
          <p:cNvSpPr/>
          <p:nvPr/>
        </p:nvSpPr>
        <p:spPr>
          <a:xfrm>
            <a:off x="521643" y="2527995"/>
            <a:ext cx="1540818" cy="19258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Petrona Bold" pitchFamily="34" charset="0"/>
                <a:ea typeface="Petrona Bold" pitchFamily="34" charset="-122"/>
                <a:cs typeface="Petrona Bold" pitchFamily="34" charset="-120"/>
              </a:rPr>
              <a:t>Model Selection</a:t>
            </a:r>
            <a:endParaRPr lang="en-US" sz="1200" dirty="0"/>
          </a:p>
        </p:txBody>
      </p:sp>
      <p:sp>
        <p:nvSpPr>
          <p:cNvPr id="6" name="Text 4"/>
          <p:cNvSpPr/>
          <p:nvPr/>
        </p:nvSpPr>
        <p:spPr>
          <a:xfrm>
            <a:off x="521643" y="2817763"/>
            <a:ext cx="2649066" cy="858366"/>
          </a:xfrm>
          <a:prstGeom prst="rect">
            <a:avLst/>
          </a:prstGeom>
          <a:noFill/>
          <a:ln/>
        </p:spPr>
        <p:txBody>
          <a:bodyPr wrap="square" lIns="0" tIns="0" rIns="0" bIns="0" rtlCol="0" anchor="t"/>
          <a:lstStyle/>
          <a:p>
            <a:pPr marL="0" indent="0" algn="l">
              <a:lnSpc>
                <a:spcPts val="1350"/>
              </a:lnSpc>
              <a:buNone/>
            </a:pPr>
            <a:r>
              <a:rPr lang="en-US" sz="900" dirty="0">
                <a:solidFill>
                  <a:srgbClr val="272525"/>
                </a:solidFill>
                <a:latin typeface="Inter" pitchFamily="34" charset="0"/>
                <a:ea typeface="Inter" pitchFamily="34" charset="-122"/>
                <a:cs typeface="Inter" pitchFamily="34" charset="-120"/>
              </a:rPr>
              <a:t>Following Occam's Razor principle, we discarded a complex model with 9 crossed variables due to high variance and overfitting risk. We opted for a robust simple model using 3 direct variables.</a:t>
            </a:r>
            <a:endParaRPr lang="en-US" sz="900" dirty="0"/>
          </a:p>
        </p:txBody>
      </p:sp>
      <p:pic>
        <p:nvPicPr>
          <p:cNvPr id="7" name="Image 0" descr="preencoded.png"/>
          <p:cNvPicPr>
            <a:picLocks noChangeAspect="1"/>
          </p:cNvPicPr>
          <p:nvPr/>
        </p:nvPicPr>
        <p:blipFill>
          <a:blip r:embed="rId3"/>
          <a:stretch>
            <a:fillRect/>
          </a:stretch>
        </p:blipFill>
        <p:spPr>
          <a:xfrm>
            <a:off x="3461817" y="1011138"/>
            <a:ext cx="5165154" cy="2926854"/>
          </a:xfrm>
          <a:prstGeom prst="rect">
            <a:avLst/>
          </a:prstGeom>
        </p:spPr>
      </p:pic>
      <p:sp>
        <p:nvSpPr>
          <p:cNvPr id="8" name="Shape 5"/>
          <p:cNvSpPr/>
          <p:nvPr/>
        </p:nvSpPr>
        <p:spPr>
          <a:xfrm>
            <a:off x="521643" y="4156621"/>
            <a:ext cx="8100640" cy="615925"/>
          </a:xfrm>
          <a:prstGeom prst="roundRect">
            <a:avLst>
              <a:gd name="adj" fmla="val 8006"/>
            </a:avLst>
          </a:prstGeom>
          <a:solidFill>
            <a:srgbClr val="B3E5FF"/>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638994" y="4329187"/>
            <a:ext cx="146745" cy="117351"/>
          </a:xfrm>
          <a:prstGeom prst="rect">
            <a:avLst/>
          </a:prstGeom>
        </p:spPr>
      </p:pic>
      <p:sp>
        <p:nvSpPr>
          <p:cNvPr id="10" name="Text 6"/>
          <p:cNvSpPr/>
          <p:nvPr/>
        </p:nvSpPr>
        <p:spPr>
          <a:xfrm>
            <a:off x="903089" y="4283125"/>
            <a:ext cx="7601843" cy="343346"/>
          </a:xfrm>
          <a:prstGeom prst="rect">
            <a:avLst/>
          </a:prstGeom>
          <a:noFill/>
          <a:ln/>
        </p:spPr>
        <p:txBody>
          <a:bodyPr wrap="square" lIns="0" tIns="0" rIns="0" bIns="0" rtlCol="0" anchor="t"/>
          <a:lstStyle/>
          <a:p>
            <a:pPr marL="0" indent="0" algn="l">
              <a:lnSpc>
                <a:spcPts val="1350"/>
              </a:lnSpc>
              <a:buNone/>
            </a:pPr>
            <a:r>
              <a:rPr lang="en-US" sz="900" dirty="0">
                <a:solidFill>
                  <a:srgbClr val="000000"/>
                </a:solidFill>
                <a:latin typeface="Inter" pitchFamily="34" charset="0"/>
                <a:ea typeface="Inter" pitchFamily="34" charset="-122"/>
                <a:cs typeface="Inter" pitchFamily="34" charset="-120"/>
              </a:rPr>
              <a:t>The GLM approach provides interpretability while maintaining predictive power, making it ideal for ensemble systems requiring transparency.</a:t>
            </a:r>
            <a:endParaRPr lang="en-US" sz="900" dirty="0"/>
          </a:p>
        </p:txBody>
      </p:sp>
      <p:pic>
        <p:nvPicPr>
          <p:cNvPr id="11" name="Imagen 10">
            <a:extLst>
              <a:ext uri="{FF2B5EF4-FFF2-40B4-BE49-F238E27FC236}">
                <a16:creationId xmlns:a16="http://schemas.microsoft.com/office/drawing/2014/main" id="{B9750DF9-D66A-125A-07FE-CAED57EA0337}"/>
              </a:ext>
            </a:extLst>
          </p:cNvPr>
          <p:cNvPicPr>
            <a:picLocks noChangeAspect="1"/>
          </p:cNvPicPr>
          <p:nvPr/>
        </p:nvPicPr>
        <p:blipFill>
          <a:blip r:embed="rId5"/>
          <a:stretch>
            <a:fillRect/>
          </a:stretch>
        </p:blipFill>
        <p:spPr>
          <a:xfrm>
            <a:off x="7909560" y="4787076"/>
            <a:ext cx="1234440" cy="356423"/>
          </a:xfrm>
          <a:prstGeom prst="rect">
            <a:avLst/>
          </a:prstGeom>
        </p:spPr>
      </p:pic>
      <p:pic>
        <p:nvPicPr>
          <p:cNvPr id="12" name="Picture 4" descr="Identidad Visual – Facultad de Medicina">
            <a:extLst>
              <a:ext uri="{FF2B5EF4-FFF2-40B4-BE49-F238E27FC236}">
                <a16:creationId xmlns:a16="http://schemas.microsoft.com/office/drawing/2014/main" id="{D53A3430-97CA-064E-E9A7-89633F650D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88379" y="421481"/>
            <a:ext cx="4738241" cy="915739"/>
          </a:xfrm>
          <a:prstGeom prst="rect">
            <a:avLst/>
          </a:prstGeom>
          <a:noFill/>
          <a:ln/>
        </p:spPr>
        <p:txBody>
          <a:bodyPr wrap="square" lIns="0" tIns="0" rIns="0" bIns="0" rtlCol="0" anchor="t"/>
          <a:lstStyle/>
          <a:p>
            <a:pPr marL="0" indent="0" algn="l">
              <a:lnSpc>
                <a:spcPts val="3600"/>
              </a:lnSpc>
              <a:buNone/>
            </a:pPr>
            <a:r>
              <a:rPr lang="en-US" sz="2850" b="1" dirty="0">
                <a:solidFill>
                  <a:srgbClr val="000000"/>
                </a:solidFill>
                <a:latin typeface="Petrona Bold" pitchFamily="34" charset="0"/>
                <a:ea typeface="Petrona Bold" pitchFamily="34" charset="-122"/>
                <a:cs typeface="Petrona Bold" pitchFamily="34" charset="-120"/>
              </a:rPr>
              <a:t>2. Fault Tolerance &amp; Inference Strategy</a:t>
            </a:r>
            <a:endParaRPr lang="en-US" sz="2850" dirty="0"/>
          </a:p>
        </p:txBody>
      </p:sp>
      <p:sp>
        <p:nvSpPr>
          <p:cNvPr id="4" name="Text 1"/>
          <p:cNvSpPr/>
          <p:nvPr/>
        </p:nvSpPr>
        <p:spPr>
          <a:xfrm>
            <a:off x="488379" y="1543273"/>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latin typeface="Petrona Light" pitchFamily="34" charset="0"/>
                <a:ea typeface="Petrona Light" pitchFamily="34" charset="-122"/>
                <a:cs typeface="Petrona Light" pitchFamily="34" charset="-120"/>
              </a:rPr>
              <a:t>01</a:t>
            </a:r>
            <a:endParaRPr lang="en-US" sz="1050" dirty="0"/>
          </a:p>
        </p:txBody>
      </p:sp>
      <p:sp>
        <p:nvSpPr>
          <p:cNvPr id="5" name="Shape 2"/>
          <p:cNvSpPr/>
          <p:nvPr/>
        </p:nvSpPr>
        <p:spPr>
          <a:xfrm>
            <a:off x="488379" y="1761381"/>
            <a:ext cx="2300436" cy="19050"/>
          </a:xfrm>
          <a:prstGeom prst="rect">
            <a:avLst/>
          </a:prstGeom>
          <a:solidFill>
            <a:srgbClr val="007EBD"/>
          </a:solidFill>
          <a:ln/>
        </p:spPr>
        <p:txBody>
          <a:bodyPr/>
          <a:lstStyle/>
          <a:p>
            <a:endParaRPr lang="en-US"/>
          </a:p>
        </p:txBody>
      </p:sp>
      <p:sp>
        <p:nvSpPr>
          <p:cNvPr id="6" name="Text 3"/>
          <p:cNvSpPr/>
          <p:nvPr/>
        </p:nvSpPr>
        <p:spPr>
          <a:xfrm>
            <a:off x="488379" y="1869207"/>
            <a:ext cx="2017365" cy="228898"/>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Petrona Bold" pitchFamily="34" charset="0"/>
                <a:ea typeface="Petrona Bold" pitchFamily="34" charset="-122"/>
                <a:cs typeface="Petrona Bold" pitchFamily="34" charset="-120"/>
              </a:rPr>
              <a:t>Time-Series Imputation</a:t>
            </a:r>
            <a:endParaRPr lang="en-US" sz="1400" dirty="0"/>
          </a:p>
        </p:txBody>
      </p:sp>
      <p:sp>
        <p:nvSpPr>
          <p:cNvPr id="7" name="Text 4"/>
          <p:cNvSpPr/>
          <p:nvPr/>
        </p:nvSpPr>
        <p:spPr>
          <a:xfrm>
            <a:off x="488379" y="2180481"/>
            <a:ext cx="2300436" cy="885825"/>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Linear interpolation applied to fill 3-hour gaps in OpenWeatherMap data, maintaining temporal continuity</a:t>
            </a:r>
            <a:endParaRPr lang="en-US" sz="1050" dirty="0"/>
          </a:p>
        </p:txBody>
      </p:sp>
      <p:sp>
        <p:nvSpPr>
          <p:cNvPr id="8" name="Text 5"/>
          <p:cNvSpPr/>
          <p:nvPr/>
        </p:nvSpPr>
        <p:spPr>
          <a:xfrm>
            <a:off x="2926184" y="1543273"/>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latin typeface="Petrona Light" pitchFamily="34" charset="0"/>
                <a:ea typeface="Petrona Light" pitchFamily="34" charset="-122"/>
                <a:cs typeface="Petrona Light" pitchFamily="34" charset="-120"/>
              </a:rPr>
              <a:t>02</a:t>
            </a:r>
            <a:endParaRPr lang="en-US" sz="1050" dirty="0"/>
          </a:p>
        </p:txBody>
      </p:sp>
      <p:sp>
        <p:nvSpPr>
          <p:cNvPr id="9" name="Shape 6"/>
          <p:cNvSpPr/>
          <p:nvPr/>
        </p:nvSpPr>
        <p:spPr>
          <a:xfrm>
            <a:off x="2926184" y="1761381"/>
            <a:ext cx="2300436" cy="19050"/>
          </a:xfrm>
          <a:prstGeom prst="rect">
            <a:avLst/>
          </a:prstGeom>
          <a:solidFill>
            <a:srgbClr val="007EBD"/>
          </a:solidFill>
          <a:ln/>
        </p:spPr>
        <p:txBody>
          <a:bodyPr/>
          <a:lstStyle/>
          <a:p>
            <a:endParaRPr lang="en-US"/>
          </a:p>
        </p:txBody>
      </p:sp>
      <p:sp>
        <p:nvSpPr>
          <p:cNvPr id="10" name="Text 7"/>
          <p:cNvSpPr/>
          <p:nvPr/>
        </p:nvSpPr>
        <p:spPr>
          <a:xfrm>
            <a:off x="2926184" y="1869207"/>
            <a:ext cx="2300436" cy="457795"/>
          </a:xfrm>
          <a:prstGeom prst="rect">
            <a:avLst/>
          </a:prstGeom>
          <a:noFill/>
          <a:ln/>
        </p:spPr>
        <p:txBody>
          <a:bodyPr wrap="square" lIns="0" tIns="0" rIns="0" bIns="0" rtlCol="0" anchor="t"/>
          <a:lstStyle/>
          <a:p>
            <a:pPr marL="0" indent="0" algn="l">
              <a:lnSpc>
                <a:spcPts val="1800"/>
              </a:lnSpc>
              <a:buNone/>
            </a:pPr>
            <a:r>
              <a:rPr lang="en-US" sz="1400" b="1" dirty="0">
                <a:solidFill>
                  <a:srgbClr val="272525"/>
                </a:solidFill>
                <a:latin typeface="Petrona Bold" pitchFamily="34" charset="0"/>
                <a:ea typeface="Petrona Bold" pitchFamily="34" charset="-122"/>
                <a:cs typeface="Petrona Bold" pitchFamily="34" charset="-120"/>
              </a:rPr>
              <a:t>Cross-Substitution Mechanism</a:t>
            </a:r>
            <a:endParaRPr lang="en-US" sz="1400" dirty="0"/>
          </a:p>
        </p:txBody>
      </p:sp>
      <p:sp>
        <p:nvSpPr>
          <p:cNvPr id="11" name="Text 8"/>
          <p:cNvSpPr/>
          <p:nvPr/>
        </p:nvSpPr>
        <p:spPr>
          <a:xfrm>
            <a:off x="2926184" y="2409379"/>
            <a:ext cx="2300436" cy="885825"/>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If any API server fails or returns null values, the system automatically redistributes weights among remaining sources</a:t>
            </a:r>
            <a:endParaRPr lang="en-US" sz="1050" dirty="0"/>
          </a:p>
        </p:txBody>
      </p:sp>
      <p:sp>
        <p:nvSpPr>
          <p:cNvPr id="12" name="Text 9"/>
          <p:cNvSpPr/>
          <p:nvPr/>
        </p:nvSpPr>
        <p:spPr>
          <a:xfrm>
            <a:off x="488379" y="3537198"/>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latin typeface="Petrona Light" pitchFamily="34" charset="0"/>
                <a:ea typeface="Petrona Light" pitchFamily="34" charset="-122"/>
                <a:cs typeface="Petrona Light" pitchFamily="34" charset="-120"/>
              </a:rPr>
              <a:t>03</a:t>
            </a:r>
            <a:endParaRPr lang="en-US" sz="1050" dirty="0"/>
          </a:p>
        </p:txBody>
      </p:sp>
      <p:sp>
        <p:nvSpPr>
          <p:cNvPr id="13" name="Shape 10"/>
          <p:cNvSpPr/>
          <p:nvPr/>
        </p:nvSpPr>
        <p:spPr>
          <a:xfrm>
            <a:off x="488379" y="3755306"/>
            <a:ext cx="4738241" cy="19050"/>
          </a:xfrm>
          <a:prstGeom prst="rect">
            <a:avLst/>
          </a:prstGeom>
          <a:solidFill>
            <a:srgbClr val="007EBD"/>
          </a:solidFill>
          <a:ln/>
        </p:spPr>
        <p:txBody>
          <a:bodyPr/>
          <a:lstStyle/>
          <a:p>
            <a:endParaRPr lang="en-US"/>
          </a:p>
        </p:txBody>
      </p:sp>
      <p:sp>
        <p:nvSpPr>
          <p:cNvPr id="14" name="Text 11"/>
          <p:cNvSpPr/>
          <p:nvPr/>
        </p:nvSpPr>
        <p:spPr>
          <a:xfrm>
            <a:off x="488379" y="3863132"/>
            <a:ext cx="2411834" cy="228898"/>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Petrona Bold" pitchFamily="34" charset="0"/>
                <a:ea typeface="Petrona Bold" pitchFamily="34" charset="-122"/>
                <a:cs typeface="Petrona Bold" pitchFamily="34" charset="-120"/>
              </a:rPr>
              <a:t>Dynamic Weight Adjustment</a:t>
            </a:r>
            <a:endParaRPr lang="en-US" sz="1400" dirty="0"/>
          </a:p>
        </p:txBody>
      </p:sp>
      <p:sp>
        <p:nvSpPr>
          <p:cNvPr id="15" name="Text 12"/>
          <p:cNvSpPr/>
          <p:nvPr/>
        </p:nvSpPr>
        <p:spPr>
          <a:xfrm>
            <a:off x="488379" y="4174406"/>
            <a:ext cx="4738241" cy="442913"/>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Model continuously updates source reliability based on recent prediction accuracy</a:t>
            </a:r>
            <a:endParaRPr lang="en-US" sz="1050" dirty="0"/>
          </a:p>
        </p:txBody>
      </p:sp>
      <p:pic>
        <p:nvPicPr>
          <p:cNvPr id="17" name="Picture 4" descr="Identidad Visual – Facultad de Medicina">
            <a:extLst>
              <a:ext uri="{FF2B5EF4-FFF2-40B4-BE49-F238E27FC236}">
                <a16:creationId xmlns:a16="http://schemas.microsoft.com/office/drawing/2014/main" id="{CF6FC3F7-F82A-DF05-8714-F6C13CB031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649188"/>
            <a:ext cx="4478238" cy="465162"/>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Petrona Bold" pitchFamily="34" charset="0"/>
                <a:ea typeface="Petrona Bold" pitchFamily="34" charset="-122"/>
                <a:cs typeface="Petrona Bold" pitchFamily="34" charset="-120"/>
              </a:rPr>
              <a:t>3. Validation Methodology</a:t>
            </a:r>
            <a:endParaRPr lang="en-US" sz="2900" dirty="0"/>
          </a:p>
        </p:txBody>
      </p:sp>
      <p:sp>
        <p:nvSpPr>
          <p:cNvPr id="4" name="Shape 1"/>
          <p:cNvSpPr/>
          <p:nvPr/>
        </p:nvSpPr>
        <p:spPr>
          <a:xfrm>
            <a:off x="3925119" y="1326952"/>
            <a:ext cx="4722763" cy="1319659"/>
          </a:xfrm>
          <a:prstGeom prst="roundRect">
            <a:avLst>
              <a:gd name="adj" fmla="val 4512"/>
            </a:avLst>
          </a:prstGeom>
          <a:solidFill>
            <a:srgbClr val="FFFFFF">
              <a:alpha val="95000"/>
            </a:srgbClr>
          </a:solidFill>
          <a:ln w="19050">
            <a:solidFill>
              <a:srgbClr val="B2D4E5"/>
            </a:solidFill>
            <a:prstDash val="solid"/>
          </a:ln>
        </p:spPr>
        <p:txBody>
          <a:bodyPr/>
          <a:lstStyle/>
          <a:p>
            <a:endParaRPr lang="en-US"/>
          </a:p>
        </p:txBody>
      </p:sp>
      <p:sp>
        <p:nvSpPr>
          <p:cNvPr id="5" name="Text 2"/>
          <p:cNvSpPr/>
          <p:nvPr/>
        </p:nvSpPr>
        <p:spPr>
          <a:xfrm>
            <a:off x="4085927" y="1487760"/>
            <a:ext cx="2128540"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10-Fold Cross-Validation</a:t>
            </a:r>
            <a:endParaRPr lang="en-US" sz="1450" dirty="0"/>
          </a:p>
        </p:txBody>
      </p:sp>
      <p:sp>
        <p:nvSpPr>
          <p:cNvPr id="6" name="Text 3"/>
          <p:cNvSpPr/>
          <p:nvPr/>
        </p:nvSpPr>
        <p:spPr>
          <a:xfrm>
            <a:off x="4085927" y="1805360"/>
            <a:ext cx="4401145"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Random sampling used to avoid optimistic resubstitution error. Data partitioned into 10 subsets with iterative training and validation.</a:t>
            </a:r>
            <a:endParaRPr lang="en-US" sz="1100" dirty="0"/>
          </a:p>
        </p:txBody>
      </p:sp>
      <p:sp>
        <p:nvSpPr>
          <p:cNvPr id="7" name="Shape 4"/>
          <p:cNvSpPr/>
          <p:nvPr/>
        </p:nvSpPr>
        <p:spPr>
          <a:xfrm>
            <a:off x="3925119" y="2788369"/>
            <a:ext cx="4722763" cy="1319659"/>
          </a:xfrm>
          <a:prstGeom prst="roundRect">
            <a:avLst>
              <a:gd name="adj" fmla="val 4512"/>
            </a:avLst>
          </a:prstGeom>
          <a:solidFill>
            <a:srgbClr val="FFFFFF">
              <a:alpha val="95000"/>
            </a:srgbClr>
          </a:solidFill>
          <a:ln w="19050">
            <a:solidFill>
              <a:srgbClr val="B2D4E5"/>
            </a:solidFill>
            <a:prstDash val="solid"/>
          </a:ln>
        </p:spPr>
        <p:txBody>
          <a:bodyPr/>
          <a:lstStyle/>
          <a:p>
            <a:endParaRPr lang="en-US"/>
          </a:p>
        </p:txBody>
      </p:sp>
      <p:sp>
        <p:nvSpPr>
          <p:cNvPr id="8" name="Text 5"/>
          <p:cNvSpPr/>
          <p:nvPr/>
        </p:nvSpPr>
        <p:spPr>
          <a:xfrm>
            <a:off x="4085927" y="2949178"/>
            <a:ext cx="1915418"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Production Retraining</a:t>
            </a:r>
            <a:endParaRPr lang="en-US" sz="1450" dirty="0"/>
          </a:p>
        </p:txBody>
      </p:sp>
      <p:sp>
        <p:nvSpPr>
          <p:cNvPr id="9" name="Text 6"/>
          <p:cNvSpPr/>
          <p:nvPr/>
        </p:nvSpPr>
        <p:spPr>
          <a:xfrm>
            <a:off x="4085927" y="3266777"/>
            <a:ext cx="4401145"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Final model re-trained with 100% of available data to maximize incorporation of recent information while maintaining validated architecture.</a:t>
            </a:r>
            <a:endParaRPr lang="en-US" sz="1100" dirty="0"/>
          </a:p>
        </p:txBody>
      </p:sp>
      <p:sp>
        <p:nvSpPr>
          <p:cNvPr id="10" name="Text 7"/>
          <p:cNvSpPr/>
          <p:nvPr/>
        </p:nvSpPr>
        <p:spPr>
          <a:xfrm>
            <a:off x="3925119" y="4267498"/>
            <a:ext cx="4722763" cy="226814"/>
          </a:xfrm>
          <a:prstGeom prst="rect">
            <a:avLst/>
          </a:prstGeom>
          <a:noFill/>
          <a:ln/>
        </p:spPr>
        <p:txBody>
          <a:bodyPr wrap="none" lIns="0" tIns="0" rIns="0" bIns="0" rtlCol="0" anchor="t"/>
          <a:lstStyle/>
          <a:p>
            <a:pPr marL="0" indent="0" algn="l">
              <a:lnSpc>
                <a:spcPts val="1750"/>
              </a:lnSpc>
              <a:buNone/>
            </a:pPr>
            <a:r>
              <a:rPr lang="en-US" sz="1100" i="1" dirty="0">
                <a:solidFill>
                  <a:srgbClr val="272525"/>
                </a:solidFill>
                <a:latin typeface="Inter" pitchFamily="34" charset="0"/>
                <a:ea typeface="Inter" pitchFamily="34" charset="-122"/>
                <a:cs typeface="Inter" pitchFamily="34" charset="-120"/>
              </a:rPr>
              <a:t>Placeholder: RMSE Temperature Chart will be inserted here</a:t>
            </a:r>
            <a:endParaRPr lang="en-US" sz="1100" dirty="0"/>
          </a:p>
        </p:txBody>
      </p:sp>
      <p:pic>
        <p:nvPicPr>
          <p:cNvPr id="11" name="Imagen 10">
            <a:extLst>
              <a:ext uri="{FF2B5EF4-FFF2-40B4-BE49-F238E27FC236}">
                <a16:creationId xmlns:a16="http://schemas.microsoft.com/office/drawing/2014/main" id="{8FBADA29-AFA4-EB29-C77E-5907B21E5E29}"/>
              </a:ext>
            </a:extLst>
          </p:cNvPr>
          <p:cNvPicPr>
            <a:picLocks noChangeAspect="1"/>
          </p:cNvPicPr>
          <p:nvPr/>
        </p:nvPicPr>
        <p:blipFill>
          <a:blip r:embed="rId4"/>
          <a:stretch>
            <a:fillRect/>
          </a:stretch>
        </p:blipFill>
        <p:spPr>
          <a:xfrm>
            <a:off x="7909560" y="4787076"/>
            <a:ext cx="1234440" cy="356423"/>
          </a:xfrm>
          <a:prstGeom prst="rect">
            <a:avLst/>
          </a:prstGeom>
        </p:spPr>
      </p:pic>
      <p:pic>
        <p:nvPicPr>
          <p:cNvPr id="13" name="Picture 4" descr="Identidad Visual – Facultad de Medicina">
            <a:extLst>
              <a:ext uri="{FF2B5EF4-FFF2-40B4-BE49-F238E27FC236}">
                <a16:creationId xmlns:a16="http://schemas.microsoft.com/office/drawing/2014/main" id="{3D399F6A-1450-3E9B-D011-4D6E83812A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2901" y="392609"/>
            <a:ext cx="4041725" cy="443359"/>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Petrona Bold" pitchFamily="34" charset="0"/>
                <a:ea typeface="Petrona Bold" pitchFamily="34" charset="-122"/>
                <a:cs typeface="Petrona Bold" pitchFamily="34" charset="-120"/>
              </a:rPr>
              <a:t>4. Time Horizon Analysis</a:t>
            </a:r>
            <a:endParaRPr lang="en-US" sz="2750" dirty="0"/>
          </a:p>
        </p:txBody>
      </p:sp>
      <p:sp>
        <p:nvSpPr>
          <p:cNvPr id="3" name="Text 1"/>
          <p:cNvSpPr/>
          <p:nvPr/>
        </p:nvSpPr>
        <p:spPr>
          <a:xfrm>
            <a:off x="472901" y="1093515"/>
            <a:ext cx="8198197" cy="211113"/>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Inter" pitchFamily="34" charset="0"/>
                <a:ea typeface="Inter" pitchFamily="34" charset="-122"/>
                <a:cs typeface="Inter" pitchFamily="34" charset="-120"/>
              </a:rPr>
              <a:t>Analyzing error progression across four temporal windows reveals the Butterfly Effect in forecasting systems.</a:t>
            </a:r>
            <a:endParaRPr lang="en-US" sz="1050" dirty="0"/>
          </a:p>
        </p:txBody>
      </p:sp>
      <p:sp>
        <p:nvSpPr>
          <p:cNvPr id="4" name="Shape 2"/>
          <p:cNvSpPr/>
          <p:nvPr/>
        </p:nvSpPr>
        <p:spPr>
          <a:xfrm>
            <a:off x="472901" y="2922166"/>
            <a:ext cx="8198197" cy="19050"/>
          </a:xfrm>
          <a:prstGeom prst="roundRect">
            <a:avLst>
              <a:gd name="adj" fmla="val 297907"/>
            </a:avLst>
          </a:prstGeom>
          <a:solidFill>
            <a:srgbClr val="B2D4E5"/>
          </a:solidFill>
          <a:ln/>
        </p:spPr>
        <p:txBody>
          <a:bodyPr/>
          <a:lstStyle/>
          <a:p>
            <a:endParaRPr lang="en-US"/>
          </a:p>
        </p:txBody>
      </p:sp>
      <p:sp>
        <p:nvSpPr>
          <p:cNvPr id="5" name="Shape 3"/>
          <p:cNvSpPr/>
          <p:nvPr/>
        </p:nvSpPr>
        <p:spPr>
          <a:xfrm>
            <a:off x="2054647" y="2516870"/>
            <a:ext cx="19050" cy="405333"/>
          </a:xfrm>
          <a:prstGeom prst="roundRect">
            <a:avLst>
              <a:gd name="adj" fmla="val 297907"/>
            </a:avLst>
          </a:prstGeom>
          <a:solidFill>
            <a:srgbClr val="B2D4E5"/>
          </a:solidFill>
          <a:ln/>
        </p:spPr>
        <p:txBody>
          <a:bodyPr/>
          <a:lstStyle/>
          <a:p>
            <a:endParaRPr lang="en-US"/>
          </a:p>
        </p:txBody>
      </p:sp>
      <p:sp>
        <p:nvSpPr>
          <p:cNvPr id="6" name="Shape 4"/>
          <p:cNvSpPr/>
          <p:nvPr/>
        </p:nvSpPr>
        <p:spPr>
          <a:xfrm>
            <a:off x="1912218" y="2770175"/>
            <a:ext cx="303981" cy="303981"/>
          </a:xfrm>
          <a:prstGeom prst="roundRect">
            <a:avLst>
              <a:gd name="adj" fmla="val 18669"/>
            </a:avLst>
          </a:prstGeom>
          <a:solidFill>
            <a:srgbClr val="CCEEFF"/>
          </a:solidFill>
          <a:ln w="4763">
            <a:solidFill>
              <a:srgbClr val="B2D4E5"/>
            </a:solidFill>
            <a:prstDash val="solid"/>
          </a:ln>
        </p:spPr>
        <p:txBody>
          <a:bodyPr/>
          <a:lstStyle/>
          <a:p>
            <a:endParaRPr lang="en-US"/>
          </a:p>
        </p:txBody>
      </p:sp>
      <p:sp>
        <p:nvSpPr>
          <p:cNvPr id="7" name="Text 5"/>
          <p:cNvSpPr/>
          <p:nvPr/>
        </p:nvSpPr>
        <p:spPr>
          <a:xfrm>
            <a:off x="1957797" y="2789151"/>
            <a:ext cx="212750" cy="265956"/>
          </a:xfrm>
          <a:prstGeom prst="rect">
            <a:avLst/>
          </a:prstGeom>
          <a:noFill/>
          <a:ln/>
        </p:spPr>
        <p:txBody>
          <a:bodyPr wrap="none" lIns="0" tIns="0" rIns="0" bIns="0" rtlCol="0" anchor="ctr"/>
          <a:lstStyle/>
          <a:p>
            <a:pPr marL="0" indent="0" algn="ctr">
              <a:lnSpc>
                <a:spcPct val="100000"/>
              </a:lnSpc>
              <a:buNone/>
            </a:pPr>
            <a:r>
              <a:rPr lang="en-US" sz="1650" b="1" dirty="0">
                <a:solidFill>
                  <a:srgbClr val="272525"/>
                </a:solidFill>
                <a:latin typeface="Petrona Bold" pitchFamily="34" charset="0"/>
                <a:ea typeface="Petrona Bold" pitchFamily="34" charset="-122"/>
                <a:cs typeface="Petrona Bold" pitchFamily="34" charset="-120"/>
              </a:rPr>
              <a:t>1</a:t>
            </a:r>
            <a:endParaRPr lang="en-US" sz="1650" dirty="0"/>
          </a:p>
        </p:txBody>
      </p:sp>
      <p:sp>
        <p:nvSpPr>
          <p:cNvPr id="8" name="Text 6"/>
          <p:cNvSpPr/>
          <p:nvPr/>
        </p:nvSpPr>
        <p:spPr>
          <a:xfrm>
            <a:off x="1177528" y="1449512"/>
            <a:ext cx="1773436" cy="221605"/>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Petrona Bold" pitchFamily="34" charset="0"/>
                <a:ea typeface="Petrona Bold" pitchFamily="34" charset="-122"/>
                <a:cs typeface="Petrona Bold" pitchFamily="34" charset="-120"/>
              </a:rPr>
              <a:t>1-12 Hours</a:t>
            </a:r>
            <a:endParaRPr lang="en-US" sz="1350" dirty="0"/>
          </a:p>
        </p:txBody>
      </p:sp>
      <p:sp>
        <p:nvSpPr>
          <p:cNvPr id="9" name="Text 7"/>
          <p:cNvSpPr/>
          <p:nvPr/>
        </p:nvSpPr>
        <p:spPr>
          <a:xfrm>
            <a:off x="607963" y="1748358"/>
            <a:ext cx="2912566" cy="633338"/>
          </a:xfrm>
          <a:prstGeom prst="rect">
            <a:avLst/>
          </a:prstGeom>
          <a:noFill/>
          <a:ln/>
        </p:spPr>
        <p:txBody>
          <a:bodyPr wrap="square" lIns="0" tIns="0" rIns="0" bIns="0" rtlCol="0" anchor="t"/>
          <a:lstStyle/>
          <a:p>
            <a:pPr marL="0" indent="0" algn="ctr">
              <a:lnSpc>
                <a:spcPts val="1650"/>
              </a:lnSpc>
              <a:buNone/>
            </a:pPr>
            <a:r>
              <a:rPr lang="en-US" sz="1050" dirty="0">
                <a:solidFill>
                  <a:srgbClr val="272525"/>
                </a:solidFill>
                <a:latin typeface="Inter" pitchFamily="34" charset="0"/>
                <a:ea typeface="Inter" pitchFamily="34" charset="-122"/>
                <a:cs typeface="Inter" pitchFamily="34" charset="-120"/>
              </a:rPr>
              <a:t>Short-term horizon with lowest error rates. All sources show high reliability as predictions approach actual conditions.</a:t>
            </a:r>
            <a:endParaRPr lang="en-US" sz="1050" dirty="0"/>
          </a:p>
        </p:txBody>
      </p:sp>
      <p:sp>
        <p:nvSpPr>
          <p:cNvPr id="10" name="Shape 8"/>
          <p:cNvSpPr/>
          <p:nvPr/>
        </p:nvSpPr>
        <p:spPr>
          <a:xfrm>
            <a:off x="3726433" y="2922129"/>
            <a:ext cx="19050" cy="405333"/>
          </a:xfrm>
          <a:prstGeom prst="roundRect">
            <a:avLst>
              <a:gd name="adj" fmla="val 297907"/>
            </a:avLst>
          </a:prstGeom>
          <a:solidFill>
            <a:srgbClr val="B2D4E5"/>
          </a:solidFill>
          <a:ln/>
        </p:spPr>
        <p:txBody>
          <a:bodyPr/>
          <a:lstStyle/>
          <a:p>
            <a:endParaRPr lang="en-US"/>
          </a:p>
        </p:txBody>
      </p:sp>
      <p:sp>
        <p:nvSpPr>
          <p:cNvPr id="11" name="Shape 9"/>
          <p:cNvSpPr/>
          <p:nvPr/>
        </p:nvSpPr>
        <p:spPr>
          <a:xfrm>
            <a:off x="3584004" y="2770175"/>
            <a:ext cx="303981" cy="303981"/>
          </a:xfrm>
          <a:prstGeom prst="roundRect">
            <a:avLst>
              <a:gd name="adj" fmla="val 18669"/>
            </a:avLst>
          </a:prstGeom>
          <a:solidFill>
            <a:srgbClr val="CCEEFF"/>
          </a:solidFill>
          <a:ln w="4763">
            <a:solidFill>
              <a:srgbClr val="B2D4E5"/>
            </a:solidFill>
            <a:prstDash val="solid"/>
          </a:ln>
        </p:spPr>
        <p:txBody>
          <a:bodyPr/>
          <a:lstStyle/>
          <a:p>
            <a:endParaRPr lang="en-US"/>
          </a:p>
        </p:txBody>
      </p:sp>
      <p:sp>
        <p:nvSpPr>
          <p:cNvPr id="12" name="Text 10"/>
          <p:cNvSpPr/>
          <p:nvPr/>
        </p:nvSpPr>
        <p:spPr>
          <a:xfrm>
            <a:off x="3629583" y="2789151"/>
            <a:ext cx="212750" cy="265956"/>
          </a:xfrm>
          <a:prstGeom prst="rect">
            <a:avLst/>
          </a:prstGeom>
          <a:noFill/>
          <a:ln/>
        </p:spPr>
        <p:txBody>
          <a:bodyPr wrap="none" lIns="0" tIns="0" rIns="0" bIns="0" rtlCol="0" anchor="ctr"/>
          <a:lstStyle/>
          <a:p>
            <a:pPr marL="0" indent="0" algn="ctr">
              <a:lnSpc>
                <a:spcPct val="100000"/>
              </a:lnSpc>
              <a:buNone/>
            </a:pPr>
            <a:r>
              <a:rPr lang="en-US" sz="1650" b="1" dirty="0">
                <a:solidFill>
                  <a:srgbClr val="272525"/>
                </a:solidFill>
                <a:latin typeface="Petrona Bold" pitchFamily="34" charset="0"/>
                <a:ea typeface="Petrona Bold" pitchFamily="34" charset="-122"/>
                <a:cs typeface="Petrona Bold" pitchFamily="34" charset="-120"/>
              </a:rPr>
              <a:t>2</a:t>
            </a:r>
            <a:endParaRPr lang="en-US" sz="1650" dirty="0"/>
          </a:p>
        </p:txBody>
      </p:sp>
      <p:sp>
        <p:nvSpPr>
          <p:cNvPr id="13" name="Text 11"/>
          <p:cNvSpPr/>
          <p:nvPr/>
        </p:nvSpPr>
        <p:spPr>
          <a:xfrm>
            <a:off x="2849314" y="3462635"/>
            <a:ext cx="1773436" cy="221605"/>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Petrona Bold" pitchFamily="34" charset="0"/>
                <a:ea typeface="Petrona Bold" pitchFamily="34" charset="-122"/>
                <a:cs typeface="Petrona Bold" pitchFamily="34" charset="-120"/>
              </a:rPr>
              <a:t>13-24 Hours</a:t>
            </a:r>
            <a:endParaRPr lang="en-US" sz="1350" dirty="0"/>
          </a:p>
        </p:txBody>
      </p:sp>
      <p:sp>
        <p:nvSpPr>
          <p:cNvPr id="14" name="Text 12"/>
          <p:cNvSpPr/>
          <p:nvPr/>
        </p:nvSpPr>
        <p:spPr>
          <a:xfrm>
            <a:off x="2279749" y="3761482"/>
            <a:ext cx="2912566" cy="633338"/>
          </a:xfrm>
          <a:prstGeom prst="rect">
            <a:avLst/>
          </a:prstGeom>
          <a:noFill/>
          <a:ln/>
        </p:spPr>
        <p:txBody>
          <a:bodyPr wrap="square" lIns="0" tIns="0" rIns="0" bIns="0" rtlCol="0" anchor="t"/>
          <a:lstStyle/>
          <a:p>
            <a:pPr marL="0" indent="0" algn="ctr">
              <a:lnSpc>
                <a:spcPts val="1650"/>
              </a:lnSpc>
              <a:buNone/>
            </a:pPr>
            <a:r>
              <a:rPr lang="en-US" sz="1050" dirty="0">
                <a:solidFill>
                  <a:srgbClr val="272525"/>
                </a:solidFill>
                <a:latin typeface="Inter" pitchFamily="34" charset="0"/>
                <a:ea typeface="Inter" pitchFamily="34" charset="-122"/>
                <a:cs typeface="Inter" pitchFamily="34" charset="-120"/>
              </a:rPr>
              <a:t>Medium-term predictions show initial error increase. Ensemble maintains advantage over individual APIs.</a:t>
            </a:r>
            <a:endParaRPr lang="en-US" sz="1050" dirty="0"/>
          </a:p>
        </p:txBody>
      </p:sp>
      <p:sp>
        <p:nvSpPr>
          <p:cNvPr id="15" name="Shape 13"/>
          <p:cNvSpPr/>
          <p:nvPr/>
        </p:nvSpPr>
        <p:spPr>
          <a:xfrm>
            <a:off x="5398294" y="2516870"/>
            <a:ext cx="19050" cy="405333"/>
          </a:xfrm>
          <a:prstGeom prst="roundRect">
            <a:avLst>
              <a:gd name="adj" fmla="val 297907"/>
            </a:avLst>
          </a:prstGeom>
          <a:solidFill>
            <a:srgbClr val="B2D4E5"/>
          </a:solidFill>
          <a:ln/>
        </p:spPr>
        <p:txBody>
          <a:bodyPr/>
          <a:lstStyle/>
          <a:p>
            <a:endParaRPr lang="en-US"/>
          </a:p>
        </p:txBody>
      </p:sp>
      <p:sp>
        <p:nvSpPr>
          <p:cNvPr id="16" name="Shape 14"/>
          <p:cNvSpPr/>
          <p:nvPr/>
        </p:nvSpPr>
        <p:spPr>
          <a:xfrm>
            <a:off x="5255865" y="2770175"/>
            <a:ext cx="303981" cy="303981"/>
          </a:xfrm>
          <a:prstGeom prst="roundRect">
            <a:avLst>
              <a:gd name="adj" fmla="val 18669"/>
            </a:avLst>
          </a:prstGeom>
          <a:solidFill>
            <a:srgbClr val="CCEEFF"/>
          </a:solidFill>
          <a:ln w="4763">
            <a:solidFill>
              <a:srgbClr val="B2D4E5"/>
            </a:solidFill>
            <a:prstDash val="solid"/>
          </a:ln>
        </p:spPr>
        <p:txBody>
          <a:bodyPr/>
          <a:lstStyle/>
          <a:p>
            <a:endParaRPr lang="en-US"/>
          </a:p>
        </p:txBody>
      </p:sp>
      <p:sp>
        <p:nvSpPr>
          <p:cNvPr id="17" name="Text 15"/>
          <p:cNvSpPr/>
          <p:nvPr/>
        </p:nvSpPr>
        <p:spPr>
          <a:xfrm>
            <a:off x="5301444" y="2789151"/>
            <a:ext cx="212750" cy="265956"/>
          </a:xfrm>
          <a:prstGeom prst="rect">
            <a:avLst/>
          </a:prstGeom>
          <a:noFill/>
          <a:ln/>
        </p:spPr>
        <p:txBody>
          <a:bodyPr wrap="none" lIns="0" tIns="0" rIns="0" bIns="0" rtlCol="0" anchor="ctr"/>
          <a:lstStyle/>
          <a:p>
            <a:pPr marL="0" indent="0" algn="ctr">
              <a:lnSpc>
                <a:spcPct val="100000"/>
              </a:lnSpc>
              <a:buNone/>
            </a:pPr>
            <a:r>
              <a:rPr lang="en-US" sz="1650" b="1" dirty="0">
                <a:solidFill>
                  <a:srgbClr val="272525"/>
                </a:solidFill>
                <a:latin typeface="Petrona Bold" pitchFamily="34" charset="0"/>
                <a:ea typeface="Petrona Bold" pitchFamily="34" charset="-122"/>
                <a:cs typeface="Petrona Bold" pitchFamily="34" charset="-120"/>
              </a:rPr>
              <a:t>3</a:t>
            </a:r>
            <a:endParaRPr lang="en-US" sz="1650" dirty="0"/>
          </a:p>
        </p:txBody>
      </p:sp>
      <p:sp>
        <p:nvSpPr>
          <p:cNvPr id="18" name="Text 16"/>
          <p:cNvSpPr/>
          <p:nvPr/>
        </p:nvSpPr>
        <p:spPr>
          <a:xfrm>
            <a:off x="4521175" y="1449512"/>
            <a:ext cx="1773436" cy="221605"/>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Petrona Bold" pitchFamily="34" charset="0"/>
                <a:ea typeface="Petrona Bold" pitchFamily="34" charset="-122"/>
                <a:cs typeface="Petrona Bold" pitchFamily="34" charset="-120"/>
              </a:rPr>
              <a:t>25-36 Hours</a:t>
            </a:r>
            <a:endParaRPr lang="en-US" sz="1350" dirty="0"/>
          </a:p>
        </p:txBody>
      </p:sp>
      <p:sp>
        <p:nvSpPr>
          <p:cNvPr id="19" name="Text 17"/>
          <p:cNvSpPr/>
          <p:nvPr/>
        </p:nvSpPr>
        <p:spPr>
          <a:xfrm>
            <a:off x="3951610" y="1748358"/>
            <a:ext cx="2912566" cy="633338"/>
          </a:xfrm>
          <a:prstGeom prst="rect">
            <a:avLst/>
          </a:prstGeom>
          <a:noFill/>
          <a:ln/>
        </p:spPr>
        <p:txBody>
          <a:bodyPr wrap="square" lIns="0" tIns="0" rIns="0" bIns="0" rtlCol="0" anchor="t"/>
          <a:lstStyle/>
          <a:p>
            <a:pPr marL="0" indent="0" algn="ctr">
              <a:lnSpc>
                <a:spcPts val="1650"/>
              </a:lnSpc>
              <a:buNone/>
            </a:pPr>
            <a:r>
              <a:rPr lang="en-US" sz="1050" dirty="0">
                <a:solidFill>
                  <a:srgbClr val="272525"/>
                </a:solidFill>
                <a:latin typeface="Inter" pitchFamily="34" charset="0"/>
                <a:ea typeface="Inter" pitchFamily="34" charset="-122"/>
                <a:cs typeface="Inter" pitchFamily="34" charset="-120"/>
              </a:rPr>
              <a:t>Extended forecasts demonstrate growing uncertainty. System smoothing becomes critical for accuracy.</a:t>
            </a:r>
            <a:endParaRPr lang="en-US" sz="1050" dirty="0"/>
          </a:p>
        </p:txBody>
      </p:sp>
      <p:sp>
        <p:nvSpPr>
          <p:cNvPr id="20" name="Shape 18"/>
          <p:cNvSpPr/>
          <p:nvPr/>
        </p:nvSpPr>
        <p:spPr>
          <a:xfrm>
            <a:off x="7070080" y="2922129"/>
            <a:ext cx="19050" cy="405333"/>
          </a:xfrm>
          <a:prstGeom prst="roundRect">
            <a:avLst>
              <a:gd name="adj" fmla="val 297907"/>
            </a:avLst>
          </a:prstGeom>
          <a:solidFill>
            <a:srgbClr val="B2D4E5"/>
          </a:solidFill>
          <a:ln/>
        </p:spPr>
        <p:txBody>
          <a:bodyPr/>
          <a:lstStyle/>
          <a:p>
            <a:endParaRPr lang="en-US"/>
          </a:p>
        </p:txBody>
      </p:sp>
      <p:sp>
        <p:nvSpPr>
          <p:cNvPr id="21" name="Shape 19"/>
          <p:cNvSpPr/>
          <p:nvPr/>
        </p:nvSpPr>
        <p:spPr>
          <a:xfrm>
            <a:off x="6927652" y="2770175"/>
            <a:ext cx="303981" cy="303981"/>
          </a:xfrm>
          <a:prstGeom prst="roundRect">
            <a:avLst>
              <a:gd name="adj" fmla="val 18669"/>
            </a:avLst>
          </a:prstGeom>
          <a:solidFill>
            <a:srgbClr val="CCEEFF"/>
          </a:solidFill>
          <a:ln w="4763">
            <a:solidFill>
              <a:srgbClr val="B2D4E5"/>
            </a:solidFill>
            <a:prstDash val="solid"/>
          </a:ln>
        </p:spPr>
        <p:txBody>
          <a:bodyPr/>
          <a:lstStyle/>
          <a:p>
            <a:endParaRPr lang="en-US"/>
          </a:p>
        </p:txBody>
      </p:sp>
      <p:sp>
        <p:nvSpPr>
          <p:cNvPr id="22" name="Text 20"/>
          <p:cNvSpPr/>
          <p:nvPr/>
        </p:nvSpPr>
        <p:spPr>
          <a:xfrm>
            <a:off x="6973230" y="2789151"/>
            <a:ext cx="212750" cy="265956"/>
          </a:xfrm>
          <a:prstGeom prst="rect">
            <a:avLst/>
          </a:prstGeom>
          <a:noFill/>
          <a:ln/>
        </p:spPr>
        <p:txBody>
          <a:bodyPr wrap="none" lIns="0" tIns="0" rIns="0" bIns="0" rtlCol="0" anchor="ctr"/>
          <a:lstStyle/>
          <a:p>
            <a:pPr marL="0" indent="0" algn="ctr">
              <a:lnSpc>
                <a:spcPct val="100000"/>
              </a:lnSpc>
              <a:buNone/>
            </a:pPr>
            <a:r>
              <a:rPr lang="en-US" sz="1650" b="1" dirty="0">
                <a:solidFill>
                  <a:srgbClr val="272525"/>
                </a:solidFill>
                <a:latin typeface="Petrona Bold" pitchFamily="34" charset="0"/>
                <a:ea typeface="Petrona Bold" pitchFamily="34" charset="-122"/>
                <a:cs typeface="Petrona Bold" pitchFamily="34" charset="-120"/>
              </a:rPr>
              <a:t>4</a:t>
            </a:r>
            <a:endParaRPr lang="en-US" sz="1650" dirty="0"/>
          </a:p>
        </p:txBody>
      </p:sp>
      <p:sp>
        <p:nvSpPr>
          <p:cNvPr id="23" name="Text 21"/>
          <p:cNvSpPr/>
          <p:nvPr/>
        </p:nvSpPr>
        <p:spPr>
          <a:xfrm>
            <a:off x="6192962" y="3462635"/>
            <a:ext cx="1773436" cy="221605"/>
          </a:xfrm>
          <a:prstGeom prst="rect">
            <a:avLst/>
          </a:prstGeom>
          <a:noFill/>
          <a:ln/>
        </p:spPr>
        <p:txBody>
          <a:bodyPr wrap="none" lIns="0" tIns="0" rIns="0" bIns="0" rtlCol="0" anchor="t"/>
          <a:lstStyle/>
          <a:p>
            <a:pPr marL="0" indent="0" algn="ctr">
              <a:lnSpc>
                <a:spcPts val="1700"/>
              </a:lnSpc>
              <a:buNone/>
            </a:pPr>
            <a:r>
              <a:rPr lang="en-US" sz="1350" b="1" dirty="0">
                <a:solidFill>
                  <a:srgbClr val="272525"/>
                </a:solidFill>
                <a:latin typeface="Petrona Bold" pitchFamily="34" charset="0"/>
                <a:ea typeface="Petrona Bold" pitchFamily="34" charset="-122"/>
                <a:cs typeface="Petrona Bold" pitchFamily="34" charset="-120"/>
              </a:rPr>
              <a:t>37-48 Hours</a:t>
            </a:r>
            <a:endParaRPr lang="en-US" sz="1350" dirty="0"/>
          </a:p>
        </p:txBody>
      </p:sp>
      <p:sp>
        <p:nvSpPr>
          <p:cNvPr id="24" name="Text 22"/>
          <p:cNvSpPr/>
          <p:nvPr/>
        </p:nvSpPr>
        <p:spPr>
          <a:xfrm>
            <a:off x="5623396" y="3761482"/>
            <a:ext cx="2912566" cy="633338"/>
          </a:xfrm>
          <a:prstGeom prst="rect">
            <a:avLst/>
          </a:prstGeom>
          <a:noFill/>
          <a:ln/>
        </p:spPr>
        <p:txBody>
          <a:bodyPr wrap="square" lIns="0" tIns="0" rIns="0" bIns="0" rtlCol="0" anchor="t"/>
          <a:lstStyle/>
          <a:p>
            <a:pPr marL="0" indent="0" algn="ctr">
              <a:lnSpc>
                <a:spcPts val="1650"/>
              </a:lnSpc>
              <a:buNone/>
            </a:pPr>
            <a:r>
              <a:rPr lang="en-US" sz="1050" dirty="0">
                <a:solidFill>
                  <a:srgbClr val="272525"/>
                </a:solidFill>
                <a:latin typeface="Inter" pitchFamily="34" charset="0"/>
                <a:ea typeface="Inter" pitchFamily="34" charset="-122"/>
                <a:cs typeface="Inter" pitchFamily="34" charset="-120"/>
              </a:rPr>
              <a:t>Long-term predictions show maximum error. Ensemble remains competitive, outperforming average of individual sources.</a:t>
            </a:r>
            <a:endParaRPr lang="en-US" sz="1050" dirty="0"/>
          </a:p>
        </p:txBody>
      </p:sp>
      <p:sp>
        <p:nvSpPr>
          <p:cNvPr id="25" name="Text 23"/>
          <p:cNvSpPr/>
          <p:nvPr/>
        </p:nvSpPr>
        <p:spPr>
          <a:xfrm>
            <a:off x="472901" y="4539704"/>
            <a:ext cx="8198197" cy="211113"/>
          </a:xfrm>
          <a:prstGeom prst="rect">
            <a:avLst/>
          </a:prstGeom>
          <a:noFill/>
          <a:ln/>
        </p:spPr>
        <p:txBody>
          <a:bodyPr wrap="none" lIns="0" tIns="0" rIns="0" bIns="0" rtlCol="0" anchor="t"/>
          <a:lstStyle/>
          <a:p>
            <a:pPr marL="0" indent="0" algn="l">
              <a:lnSpc>
                <a:spcPts val="1650"/>
              </a:lnSpc>
              <a:buNone/>
            </a:pPr>
            <a:r>
              <a:rPr lang="en-US" sz="1050" i="1" dirty="0">
                <a:solidFill>
                  <a:srgbClr val="272525"/>
                </a:solidFill>
                <a:latin typeface="Inter" pitchFamily="34" charset="0"/>
                <a:ea typeface="Inter" pitchFamily="34" charset="-122"/>
                <a:cs typeface="Inter" pitchFamily="34" charset="-120"/>
              </a:rPr>
              <a:t>Placeholder: RMSE Wind Chart will be inserted here</a:t>
            </a:r>
            <a:endParaRPr lang="en-US" sz="1050" dirty="0"/>
          </a:p>
        </p:txBody>
      </p:sp>
      <p:pic>
        <p:nvPicPr>
          <p:cNvPr id="26" name="Imagen 25">
            <a:extLst>
              <a:ext uri="{FF2B5EF4-FFF2-40B4-BE49-F238E27FC236}">
                <a16:creationId xmlns:a16="http://schemas.microsoft.com/office/drawing/2014/main" id="{4B0D1B48-0335-9BB6-EF37-3F96C5578F4E}"/>
              </a:ext>
            </a:extLst>
          </p:cNvPr>
          <p:cNvPicPr>
            <a:picLocks noChangeAspect="1"/>
          </p:cNvPicPr>
          <p:nvPr/>
        </p:nvPicPr>
        <p:blipFill>
          <a:blip r:embed="rId3"/>
          <a:stretch>
            <a:fillRect/>
          </a:stretch>
        </p:blipFill>
        <p:spPr>
          <a:xfrm>
            <a:off x="7909560" y="4787076"/>
            <a:ext cx="1234440" cy="356423"/>
          </a:xfrm>
          <a:prstGeom prst="rect">
            <a:avLst/>
          </a:prstGeom>
        </p:spPr>
      </p:pic>
      <p:pic>
        <p:nvPicPr>
          <p:cNvPr id="28" name="Picture 4" descr="Identidad Visual – Facultad de Medicina">
            <a:extLst>
              <a:ext uri="{FF2B5EF4-FFF2-40B4-BE49-F238E27FC236}">
                <a16:creationId xmlns:a16="http://schemas.microsoft.com/office/drawing/2014/main" id="{5F1AE13E-DF50-5A2B-2F35-5412B8B14F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264295"/>
            <a:ext cx="7281416" cy="465162"/>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Petrona Bold" pitchFamily="34" charset="0"/>
                <a:ea typeface="Petrona Bold" pitchFamily="34" charset="-122"/>
                <a:cs typeface="Petrona Bold" pitchFamily="34" charset="-120"/>
              </a:rPr>
              <a:t>4. Error Degradation: Precipitation &amp; Wind</a:t>
            </a:r>
            <a:endParaRPr lang="en-US" sz="2900" dirty="0"/>
          </a:p>
        </p:txBody>
      </p:sp>
      <p:sp>
        <p:nvSpPr>
          <p:cNvPr id="3" name="Text 1"/>
          <p:cNvSpPr/>
          <p:nvPr/>
        </p:nvSpPr>
        <p:spPr>
          <a:xfrm>
            <a:off x="496119" y="2083817"/>
            <a:ext cx="2164407" cy="23254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Petrona Bold" pitchFamily="34" charset="0"/>
                <a:ea typeface="Petrona Bold" pitchFamily="34" charset="-122"/>
                <a:cs typeface="Petrona Bold" pitchFamily="34" charset="-120"/>
              </a:rPr>
              <a:t>Precipitation Forecasting</a:t>
            </a:r>
            <a:endParaRPr lang="en-US" sz="1450" dirty="0"/>
          </a:p>
        </p:txBody>
      </p:sp>
      <p:sp>
        <p:nvSpPr>
          <p:cNvPr id="4" name="Text 2"/>
          <p:cNvSpPr/>
          <p:nvPr/>
        </p:nvSpPr>
        <p:spPr>
          <a:xfrm>
            <a:off x="496119" y="2458120"/>
            <a:ext cx="3902943" cy="453628"/>
          </a:xfrm>
          <a:prstGeom prst="rect">
            <a:avLst/>
          </a:prstGeom>
          <a:noFill/>
          <a:ln/>
        </p:spPr>
        <p:txBody>
          <a:bodyPr wrap="square" lIns="0" tIns="0" rIns="0" bIns="0" rtlCol="0" anchor="t"/>
          <a:lstStyle/>
          <a:p>
            <a:pPr marL="0" indent="0" algn="l">
              <a:lnSpc>
                <a:spcPts val="1750"/>
              </a:lnSpc>
              <a:buNone/>
            </a:pPr>
            <a:r>
              <a:rPr lang="en-US" sz="1100" i="1" dirty="0">
                <a:solidFill>
                  <a:srgbClr val="272525"/>
                </a:solidFill>
                <a:latin typeface="Inter" pitchFamily="34" charset="0"/>
                <a:ea typeface="Inter" pitchFamily="34" charset="-122"/>
                <a:cs typeface="Inter" pitchFamily="34" charset="-120"/>
              </a:rPr>
              <a:t>Placeholder: RMSE Precipitation Chart will be inserted here</a:t>
            </a:r>
            <a:endParaRPr lang="en-US" sz="1100" dirty="0"/>
          </a:p>
        </p:txBody>
      </p:sp>
      <p:sp>
        <p:nvSpPr>
          <p:cNvPr id="5" name="Text 3"/>
          <p:cNvSpPr/>
          <p:nvPr/>
        </p:nvSpPr>
        <p:spPr>
          <a:xfrm>
            <a:off x="4749701" y="2083817"/>
            <a:ext cx="1970856" cy="23254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Petrona Bold" pitchFamily="34" charset="0"/>
                <a:ea typeface="Petrona Bold" pitchFamily="34" charset="-122"/>
                <a:cs typeface="Petrona Bold" pitchFamily="34" charset="-120"/>
              </a:rPr>
              <a:t>Wind Speed Prediction</a:t>
            </a:r>
            <a:endParaRPr lang="en-US" sz="1450" dirty="0"/>
          </a:p>
        </p:txBody>
      </p:sp>
      <p:sp>
        <p:nvSpPr>
          <p:cNvPr id="6" name="Text 4"/>
          <p:cNvSpPr/>
          <p:nvPr/>
        </p:nvSpPr>
        <p:spPr>
          <a:xfrm>
            <a:off x="4749701" y="2458120"/>
            <a:ext cx="3902943" cy="226814"/>
          </a:xfrm>
          <a:prstGeom prst="rect">
            <a:avLst/>
          </a:prstGeom>
          <a:noFill/>
          <a:ln/>
        </p:spPr>
        <p:txBody>
          <a:bodyPr wrap="none" lIns="0" tIns="0" rIns="0" bIns="0" rtlCol="0" anchor="t"/>
          <a:lstStyle/>
          <a:p>
            <a:pPr marL="0" indent="0" algn="l">
              <a:lnSpc>
                <a:spcPts val="1750"/>
              </a:lnSpc>
              <a:buNone/>
            </a:pPr>
            <a:r>
              <a:rPr lang="en-US" sz="1100" i="1" dirty="0">
                <a:solidFill>
                  <a:srgbClr val="272525"/>
                </a:solidFill>
                <a:latin typeface="Inter" pitchFamily="34" charset="0"/>
                <a:ea typeface="Inter" pitchFamily="34" charset="-122"/>
                <a:cs typeface="Inter" pitchFamily="34" charset="-120"/>
              </a:rPr>
              <a:t>Placeholder: RMSE Wind Chart will be inserted here</a:t>
            </a:r>
            <a:endParaRPr lang="en-US" sz="1100" dirty="0"/>
          </a:p>
        </p:txBody>
      </p:sp>
      <p:sp>
        <p:nvSpPr>
          <p:cNvPr id="7" name="Text 5"/>
          <p:cNvSpPr/>
          <p:nvPr/>
        </p:nvSpPr>
        <p:spPr>
          <a:xfrm>
            <a:off x="496119" y="3198763"/>
            <a:ext cx="8151763" cy="680442"/>
          </a:xfrm>
          <a:prstGeom prst="rect">
            <a:avLst/>
          </a:prstGeom>
          <a:noFill/>
          <a:ln/>
        </p:spPr>
        <p:txBody>
          <a:bodyPr wrap="square" lIns="0" tIns="0" rIns="0" bIns="0" rtlCol="0" anchor="t"/>
          <a:lstStyle/>
          <a:p>
            <a:pPr marL="0" indent="0" algn="l">
              <a:lnSpc>
                <a:spcPts val="1750"/>
              </a:lnSpc>
              <a:buNone/>
            </a:pPr>
            <a:r>
              <a:rPr lang="en-US" sz="1100" b="1" dirty="0">
                <a:solidFill>
                  <a:srgbClr val="272525"/>
                </a:solidFill>
                <a:latin typeface="Inter" pitchFamily="34" charset="0"/>
                <a:ea typeface="Inter" pitchFamily="34" charset="-122"/>
                <a:cs typeface="Inter" pitchFamily="34" charset="-120"/>
              </a:rPr>
              <a:t>Key Insight:</a:t>
            </a:r>
            <a:r>
              <a:rPr lang="en-US" sz="1100" dirty="0">
                <a:solidFill>
                  <a:srgbClr val="272525"/>
                </a:solidFill>
                <a:latin typeface="Inter" pitchFamily="34" charset="0"/>
                <a:ea typeface="Inter" pitchFamily="34" charset="-122"/>
                <a:cs typeface="Inter" pitchFamily="34" charset="-120"/>
              </a:rPr>
              <a:t> As time horizon increases, uncertainty grows exponentially across all sources. However, our ensemble model maintains competitive error rates, consistently lower than the average of individual APIs, demonstrating the value of intelligent fusion.</a:t>
            </a:r>
            <a:endParaRPr lang="en-US" sz="1100" dirty="0"/>
          </a:p>
        </p:txBody>
      </p:sp>
      <p:pic>
        <p:nvPicPr>
          <p:cNvPr id="8" name="Imagen 7">
            <a:extLst>
              <a:ext uri="{FF2B5EF4-FFF2-40B4-BE49-F238E27FC236}">
                <a16:creationId xmlns:a16="http://schemas.microsoft.com/office/drawing/2014/main" id="{5E95388F-82AD-E70E-C703-92BD383C846F}"/>
              </a:ext>
            </a:extLst>
          </p:cNvPr>
          <p:cNvPicPr>
            <a:picLocks noChangeAspect="1"/>
          </p:cNvPicPr>
          <p:nvPr/>
        </p:nvPicPr>
        <p:blipFill>
          <a:blip r:embed="rId3"/>
          <a:stretch>
            <a:fillRect/>
          </a:stretch>
        </p:blipFill>
        <p:spPr>
          <a:xfrm>
            <a:off x="7909560" y="4787076"/>
            <a:ext cx="1234440" cy="356423"/>
          </a:xfrm>
          <a:prstGeom prst="rect">
            <a:avLst/>
          </a:prstGeom>
        </p:spPr>
      </p:pic>
      <p:pic>
        <p:nvPicPr>
          <p:cNvPr id="9" name="Picture 4" descr="Identidad Visual – Facultad de Medicina">
            <a:extLst>
              <a:ext uri="{FF2B5EF4-FFF2-40B4-BE49-F238E27FC236}">
                <a16:creationId xmlns:a16="http://schemas.microsoft.com/office/drawing/2014/main" id="{7E70EFFB-1293-9EA5-737C-A11621EE11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7247" y="4476642"/>
            <a:ext cx="464035" cy="6159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Identidad Visual – Facultad de Medicina">
            <a:extLst>
              <a:ext uri="{FF2B5EF4-FFF2-40B4-BE49-F238E27FC236}">
                <a16:creationId xmlns:a16="http://schemas.microsoft.com/office/drawing/2014/main" id="{BA8C0E94-061A-7330-90AE-6B84E80765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239441"/>
            <a:ext cx="6223248" cy="465162"/>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Petrona Bold" pitchFamily="34" charset="0"/>
                <a:ea typeface="Petrona Bold" pitchFamily="34" charset="-122"/>
                <a:cs typeface="Petrona Bold" pitchFamily="34" charset="-120"/>
              </a:rPr>
              <a:t>5. Final Conclusions: Smart Filtering</a:t>
            </a:r>
            <a:endParaRPr lang="en-US" sz="29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988121"/>
            <a:ext cx="354360" cy="354360"/>
          </a:xfrm>
          <a:prstGeom prst="rect">
            <a:avLst/>
          </a:prstGeom>
        </p:spPr>
      </p:pic>
      <p:sp>
        <p:nvSpPr>
          <p:cNvPr id="4" name="Text 1"/>
          <p:cNvSpPr/>
          <p:nvPr/>
        </p:nvSpPr>
        <p:spPr>
          <a:xfrm>
            <a:off x="496119" y="2519660"/>
            <a:ext cx="1860649"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Peak Smoothing</a:t>
            </a:r>
            <a:endParaRPr lang="en-US" sz="1450" dirty="0"/>
          </a:p>
        </p:txBody>
      </p:sp>
      <p:sp>
        <p:nvSpPr>
          <p:cNvPr id="5" name="Text 2"/>
          <p:cNvSpPr/>
          <p:nvPr/>
        </p:nvSpPr>
        <p:spPr>
          <a:xfrm>
            <a:off x="496119" y="2837259"/>
            <a:ext cx="3987254"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The model learned to identify and smooth unrealistic peaks, particularly AEMET's wind overestimation tendencies, improving overall forecast reliability.</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0553" y="1988121"/>
            <a:ext cx="354360" cy="354360"/>
          </a:xfrm>
          <a:prstGeom prst="rect">
            <a:avLst/>
          </a:prstGeom>
        </p:spPr>
      </p:pic>
      <p:sp>
        <p:nvSpPr>
          <p:cNvPr id="7" name="Text 3"/>
          <p:cNvSpPr/>
          <p:nvPr/>
        </p:nvSpPr>
        <p:spPr>
          <a:xfrm>
            <a:off x="4660553" y="2519660"/>
            <a:ext cx="1977330" cy="232544"/>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Petrona Bold" pitchFamily="34" charset="0"/>
                <a:ea typeface="Petrona Bold" pitchFamily="34" charset="-122"/>
                <a:cs typeface="Petrona Bold" pitchFamily="34" charset="-120"/>
              </a:rPr>
              <a:t>False Alarm Correction</a:t>
            </a:r>
            <a:endParaRPr lang="en-US" sz="1450" dirty="0"/>
          </a:p>
        </p:txBody>
      </p:sp>
      <p:sp>
        <p:nvSpPr>
          <p:cNvPr id="8" name="Text 4"/>
          <p:cNvSpPr/>
          <p:nvPr/>
        </p:nvSpPr>
        <p:spPr>
          <a:xfrm>
            <a:off x="4660553" y="2837259"/>
            <a:ext cx="3987329" cy="680442"/>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Inter" pitchFamily="34" charset="0"/>
                <a:ea typeface="Inter" pitchFamily="34" charset="-122"/>
                <a:cs typeface="Inter" pitchFamily="34" charset="-120"/>
              </a:rPr>
              <a:t>System penalizes extreme rain predictions when consensus of other APIs indicates otherwise, reducing Type I errors while maintaining sensitivity.</a:t>
            </a:r>
            <a:endParaRPr lang="en-US" sz="1100" dirty="0"/>
          </a:p>
        </p:txBody>
      </p:sp>
      <p:sp>
        <p:nvSpPr>
          <p:cNvPr id="9" name="Text 5"/>
          <p:cNvSpPr/>
          <p:nvPr/>
        </p:nvSpPr>
        <p:spPr>
          <a:xfrm>
            <a:off x="496119" y="3677171"/>
            <a:ext cx="8151763" cy="226814"/>
          </a:xfrm>
          <a:prstGeom prst="rect">
            <a:avLst/>
          </a:prstGeom>
          <a:noFill/>
          <a:ln/>
        </p:spPr>
        <p:txBody>
          <a:bodyPr wrap="none" lIns="0" tIns="0" rIns="0" bIns="0" rtlCol="0" anchor="t"/>
          <a:lstStyle/>
          <a:p>
            <a:pPr marL="0" indent="0" algn="l">
              <a:lnSpc>
                <a:spcPts val="1750"/>
              </a:lnSpc>
              <a:buNone/>
            </a:pPr>
            <a:r>
              <a:rPr lang="en-US" sz="1100" i="1" dirty="0">
                <a:solidFill>
                  <a:srgbClr val="272525"/>
                </a:solidFill>
                <a:latin typeface="Inter" pitchFamily="34" charset="0"/>
                <a:ea typeface="Inter" pitchFamily="34" charset="-122"/>
                <a:cs typeface="Inter" pitchFamily="34" charset="-120"/>
              </a:rPr>
              <a:t>Placeholder: Backtesting Line Charts will be inserted here</a:t>
            </a:r>
            <a:endParaRPr lang="en-US" sz="1100" dirty="0"/>
          </a:p>
        </p:txBody>
      </p:sp>
      <p:pic>
        <p:nvPicPr>
          <p:cNvPr id="10" name="Imagen 9">
            <a:extLst>
              <a:ext uri="{FF2B5EF4-FFF2-40B4-BE49-F238E27FC236}">
                <a16:creationId xmlns:a16="http://schemas.microsoft.com/office/drawing/2014/main" id="{4D30D5BE-C819-964C-EFCE-12AF7414FDD8}"/>
              </a:ext>
            </a:extLst>
          </p:cNvPr>
          <p:cNvPicPr>
            <a:picLocks noChangeAspect="1"/>
          </p:cNvPicPr>
          <p:nvPr/>
        </p:nvPicPr>
        <p:blipFill>
          <a:blip r:embed="rId5"/>
          <a:stretch>
            <a:fillRect/>
          </a:stretch>
        </p:blipFill>
        <p:spPr>
          <a:xfrm>
            <a:off x="7909560" y="4787076"/>
            <a:ext cx="1234440" cy="356423"/>
          </a:xfrm>
          <a:prstGeom prst="rect">
            <a:avLst/>
          </a:prstGeom>
        </p:spPr>
      </p:pic>
      <p:pic>
        <p:nvPicPr>
          <p:cNvPr id="11" name="Picture 4" descr="Identidad Visual – Facultad de Medicina">
            <a:extLst>
              <a:ext uri="{FF2B5EF4-FFF2-40B4-BE49-F238E27FC236}">
                <a16:creationId xmlns:a16="http://schemas.microsoft.com/office/drawing/2014/main" id="{C9F47C5C-0A22-777E-61E9-47BF05114E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7247" y="4476642"/>
            <a:ext cx="464035" cy="6159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Identidad Visual – Facultad de Medicina">
            <a:extLst>
              <a:ext uri="{FF2B5EF4-FFF2-40B4-BE49-F238E27FC236}">
                <a16:creationId xmlns:a16="http://schemas.microsoft.com/office/drawing/2014/main" id="{DE9A256C-284A-8B80-EAD4-A76AF6B4FD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80640" y="421109"/>
            <a:ext cx="4753719" cy="901303"/>
          </a:xfrm>
          <a:prstGeom prst="rect">
            <a:avLst/>
          </a:prstGeom>
          <a:noFill/>
          <a:ln/>
        </p:spPr>
        <p:txBody>
          <a:bodyPr wrap="square" lIns="0" tIns="0" rIns="0" bIns="0" rtlCol="0" anchor="t"/>
          <a:lstStyle/>
          <a:p>
            <a:pPr marL="0" indent="0" algn="l">
              <a:lnSpc>
                <a:spcPts val="3500"/>
              </a:lnSpc>
              <a:buNone/>
            </a:pPr>
            <a:r>
              <a:rPr lang="en-US" sz="2800" b="1" dirty="0">
                <a:solidFill>
                  <a:srgbClr val="000000"/>
                </a:solidFill>
                <a:latin typeface="Petrona Bold" pitchFamily="34" charset="0"/>
                <a:ea typeface="Petrona Bold" pitchFamily="34" charset="-122"/>
                <a:cs typeface="Petrona Bold" pitchFamily="34" charset="-120"/>
              </a:rPr>
              <a:t>Key Takeaways &amp; Future Work</a:t>
            </a:r>
            <a:endParaRPr lang="en-US" sz="2800" dirty="0"/>
          </a:p>
        </p:txBody>
      </p:sp>
      <p:sp>
        <p:nvSpPr>
          <p:cNvPr id="4" name="Shape 1"/>
          <p:cNvSpPr/>
          <p:nvPr/>
        </p:nvSpPr>
        <p:spPr>
          <a:xfrm>
            <a:off x="480640" y="1521916"/>
            <a:ext cx="2310333" cy="1463353"/>
          </a:xfrm>
          <a:prstGeom prst="roundRect">
            <a:avLst>
              <a:gd name="adj" fmla="val 3942"/>
            </a:avLst>
          </a:prstGeom>
          <a:solidFill>
            <a:srgbClr val="CCEEFF"/>
          </a:solidFill>
          <a:ln w="4763">
            <a:solidFill>
              <a:srgbClr val="B2D4E5"/>
            </a:solidFill>
            <a:prstDash val="solid"/>
          </a:ln>
        </p:spPr>
        <p:txBody>
          <a:bodyPr/>
          <a:lstStyle/>
          <a:p>
            <a:endParaRPr lang="en-US"/>
          </a:p>
        </p:txBody>
      </p:sp>
      <p:sp>
        <p:nvSpPr>
          <p:cNvPr id="5" name="Text 2"/>
          <p:cNvSpPr/>
          <p:nvPr/>
        </p:nvSpPr>
        <p:spPr>
          <a:xfrm>
            <a:off x="622697" y="1663973"/>
            <a:ext cx="2026221" cy="450503"/>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Preprocessing Dominance</a:t>
            </a:r>
            <a:endParaRPr lang="en-US" sz="1400" dirty="0"/>
          </a:p>
        </p:txBody>
      </p:sp>
      <p:sp>
        <p:nvSpPr>
          <p:cNvPr id="6" name="Text 3"/>
          <p:cNvSpPr/>
          <p:nvPr/>
        </p:nvSpPr>
        <p:spPr>
          <a:xfrm>
            <a:off x="622697" y="2194247"/>
            <a:ext cx="2026221" cy="648965"/>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Data cleaning and fusion proved most critical phase for Pattern Recognition success</a:t>
            </a:r>
            <a:endParaRPr lang="en-US" sz="1050" dirty="0"/>
          </a:p>
        </p:txBody>
      </p:sp>
      <p:sp>
        <p:nvSpPr>
          <p:cNvPr id="7" name="Shape 4"/>
          <p:cNvSpPr/>
          <p:nvPr/>
        </p:nvSpPr>
        <p:spPr>
          <a:xfrm>
            <a:off x="2923952" y="1521916"/>
            <a:ext cx="2310408" cy="1463353"/>
          </a:xfrm>
          <a:prstGeom prst="roundRect">
            <a:avLst>
              <a:gd name="adj" fmla="val 3942"/>
            </a:avLst>
          </a:prstGeom>
          <a:solidFill>
            <a:srgbClr val="CCEEFF"/>
          </a:solidFill>
          <a:ln w="4763">
            <a:solidFill>
              <a:srgbClr val="B2D4E5"/>
            </a:solidFill>
            <a:prstDash val="solid"/>
          </a:ln>
        </p:spPr>
        <p:txBody>
          <a:bodyPr/>
          <a:lstStyle/>
          <a:p>
            <a:endParaRPr lang="en-US"/>
          </a:p>
        </p:txBody>
      </p:sp>
      <p:sp>
        <p:nvSpPr>
          <p:cNvPr id="8" name="Text 5"/>
          <p:cNvSpPr/>
          <p:nvPr/>
        </p:nvSpPr>
        <p:spPr>
          <a:xfrm>
            <a:off x="3066008" y="1663973"/>
            <a:ext cx="1802532" cy="225251"/>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Simplicity Wins</a:t>
            </a:r>
            <a:endParaRPr lang="en-US" sz="1400" dirty="0"/>
          </a:p>
        </p:txBody>
      </p:sp>
      <p:sp>
        <p:nvSpPr>
          <p:cNvPr id="9" name="Text 6"/>
          <p:cNvSpPr/>
          <p:nvPr/>
        </p:nvSpPr>
        <p:spPr>
          <a:xfrm>
            <a:off x="3066008" y="1968996"/>
            <a:ext cx="2026295" cy="648965"/>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Robust simple model outperformed complex alternatives via Occam's Razor</a:t>
            </a:r>
            <a:endParaRPr lang="en-US" sz="1050" dirty="0"/>
          </a:p>
        </p:txBody>
      </p:sp>
      <p:sp>
        <p:nvSpPr>
          <p:cNvPr id="10" name="Shape 7"/>
          <p:cNvSpPr/>
          <p:nvPr/>
        </p:nvSpPr>
        <p:spPr>
          <a:xfrm>
            <a:off x="480640" y="3118247"/>
            <a:ext cx="4753719" cy="805458"/>
          </a:xfrm>
          <a:prstGeom prst="roundRect">
            <a:avLst>
              <a:gd name="adj" fmla="val 7161"/>
            </a:avLst>
          </a:prstGeom>
          <a:solidFill>
            <a:srgbClr val="CCEEFF"/>
          </a:solidFill>
          <a:ln w="4763">
            <a:solidFill>
              <a:srgbClr val="B2D4E5"/>
            </a:solidFill>
            <a:prstDash val="solid"/>
          </a:ln>
        </p:spPr>
        <p:txBody>
          <a:bodyPr/>
          <a:lstStyle/>
          <a:p>
            <a:endParaRPr lang="en-US"/>
          </a:p>
        </p:txBody>
      </p:sp>
      <p:sp>
        <p:nvSpPr>
          <p:cNvPr id="11" name="Text 8"/>
          <p:cNvSpPr/>
          <p:nvPr/>
        </p:nvSpPr>
        <p:spPr>
          <a:xfrm>
            <a:off x="622697" y="3260303"/>
            <a:ext cx="1802532" cy="225251"/>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Ensemble Value</a:t>
            </a:r>
            <a:endParaRPr lang="en-US" sz="1400" dirty="0"/>
          </a:p>
        </p:txBody>
      </p:sp>
      <p:sp>
        <p:nvSpPr>
          <p:cNvPr id="12" name="Text 9"/>
          <p:cNvSpPr/>
          <p:nvPr/>
        </p:nvSpPr>
        <p:spPr>
          <a:xfrm>
            <a:off x="622697" y="3565327"/>
            <a:ext cx="4469606" cy="216322"/>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Intelligent fusion maintains competitive error across all time horizons</a:t>
            </a:r>
            <a:endParaRPr lang="en-US" sz="1050" dirty="0"/>
          </a:p>
        </p:txBody>
      </p:sp>
      <p:sp>
        <p:nvSpPr>
          <p:cNvPr id="13" name="Text 10"/>
          <p:cNvSpPr/>
          <p:nvPr/>
        </p:nvSpPr>
        <p:spPr>
          <a:xfrm>
            <a:off x="480640" y="4073351"/>
            <a:ext cx="4753719" cy="648965"/>
          </a:xfrm>
          <a:prstGeom prst="rect">
            <a:avLst/>
          </a:prstGeom>
          <a:noFill/>
          <a:ln/>
        </p:spPr>
        <p:txBody>
          <a:bodyPr wrap="square" lIns="0" tIns="0" rIns="0" bIns="0" rtlCol="0" anchor="t"/>
          <a:lstStyle/>
          <a:p>
            <a:pPr marL="0" indent="0" algn="l">
              <a:lnSpc>
                <a:spcPts val="1700"/>
              </a:lnSpc>
              <a:buNone/>
            </a:pPr>
            <a:r>
              <a:rPr lang="en-US" sz="1050" b="1" dirty="0">
                <a:solidFill>
                  <a:srgbClr val="272525"/>
                </a:solidFill>
                <a:latin typeface="Inter" pitchFamily="34" charset="0"/>
                <a:ea typeface="Inter" pitchFamily="34" charset="-122"/>
                <a:cs typeface="Inter" pitchFamily="34" charset="-120"/>
              </a:rPr>
              <a:t>Future Directions:</a:t>
            </a:r>
            <a:r>
              <a:rPr lang="en-US" sz="1050" dirty="0">
                <a:solidFill>
                  <a:srgbClr val="272525"/>
                </a:solidFill>
                <a:latin typeface="Inter" pitchFamily="34" charset="0"/>
                <a:ea typeface="Inter" pitchFamily="34" charset="-122"/>
                <a:cs typeface="Inter" pitchFamily="34" charset="-120"/>
              </a:rPr>
              <a:t> Integration of satellite imagery, seasonal adjustment factors, and real-time model updating could further enhance predictive performance.</a:t>
            </a:r>
            <a:endParaRPr lang="en-US" sz="1050" dirty="0"/>
          </a:p>
        </p:txBody>
      </p:sp>
      <p:pic>
        <p:nvPicPr>
          <p:cNvPr id="14" name="Picture 4" descr="Identidad Visual – Facultad de Medicina">
            <a:extLst>
              <a:ext uri="{FF2B5EF4-FFF2-40B4-BE49-F238E27FC236}">
                <a16:creationId xmlns:a16="http://schemas.microsoft.com/office/drawing/2014/main" id="{9E12A1A0-A0B8-1A38-CAE3-A1271C327D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7247" y="4476642"/>
            <a:ext cx="464035" cy="6159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Identidad Visual – Facultad de Medicina">
            <a:extLst>
              <a:ext uri="{FF2B5EF4-FFF2-40B4-BE49-F238E27FC236}">
                <a16:creationId xmlns:a16="http://schemas.microsoft.com/office/drawing/2014/main" id="{03765256-919B-572B-800D-481C7D5554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4486" y="4539343"/>
            <a:ext cx="416796" cy="553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830</Words>
  <Application>Microsoft Office PowerPoint</Application>
  <PresentationFormat>Presentación en pantalla (16:9)</PresentationFormat>
  <Paragraphs>96</Paragraphs>
  <Slides>11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Fira Code</vt:lpstr>
      <vt:lpstr>Inter</vt:lpstr>
      <vt:lpstr>Petrona Light</vt:lpstr>
      <vt:lpstr>Arial</vt:lpstr>
      <vt:lpstr>Petrona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José Álvaro García Márquez</dc:creator>
  <cp:lastModifiedBy>José Álvaro García Márquez</cp:lastModifiedBy>
  <cp:revision>4</cp:revision>
  <dcterms:created xsi:type="dcterms:W3CDTF">2026-05-07T12:00:50Z</dcterms:created>
  <dcterms:modified xsi:type="dcterms:W3CDTF">2026-05-07T12:56:07Z</dcterms:modified>
</cp:coreProperties>
</file>